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3" roundtripDataSignature="AMtx7mgz5cRDBtNQQ8I+/gPVrJDYcLs24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customschemas.google.com/relationships/presentationmetadata" Target="meta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Buenos días/tardes profesor y compañeros. Mi nombre es [tu nombre] y hoy voy a exponer el trabajo que desarrollamos junto a mis compañeros: un sistema de gestión para una funeraria, construido en dos versiones. La idea de la exposición es simple: voy a mostrar el código de la Versión 1, señalar qué problemas de seguridad tiene, y después mostrar cómo la Versión 2 los corrige. La funcionalidad del programa es la misma en ambas —login, ver servicios, editar precios, generar órdenes— pero la forma en que está construido cambia por completo. Voy a ir bloque por bloque: primero el login, luego la validación de datos, y por último cómo se organiza el código.</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Voy a ir bloque por bloque: primero el login, luego la validación de datos, y por último cómo se organiza el código.</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 name="Google Shape;5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Partamos por el login. En la Versión 1, los usuarios están definidos así: [mostrar código]. Acá tenemos dos problemas. El primero es que las contraseñas están escritas directamente en el código, en texto plano. Si alguien accede al archivo fuente, ya tiene las claves. El segundo problema, más grave para esta asignatura, es que no existe ningún rol. Una vez que entras al sistema —seas quien seas— tienes acceso total a todo, incluyendo editar los precios de los servicios. Esto rompe un principio básico de seguridad que vimos en clase: el principio de mínimo privilegio, que dice que cada usuario debería tener solo los permisos que necesita para su función, ni uno más.</a:t>
            </a:r>
            <a:endParaRPr/>
          </a:p>
        </p:txBody>
      </p:sp>
      <p:sp>
        <p:nvSpPr>
          <p:cNvPr id="54" name="Google Shape;5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la Versión 2 agregamos un campo extra a cada usuario: el rol. Ese rol se guarda al momento del login y se lo pasamos como parámetro a las funciones que son sensibles. Por ejemplo, en la función para editar precios: si el rol del usuario no es 'jefe', el sistema imprime acceso denegado y retorna. Con esta sola validación, un cliente puede ver servicios y generar una orden, pero si intenta editar un precio, el sistema se lo niega inmediatamente. Esto es lo que se conoce como control de acceso basado en roles, o RBAC. Es importante aclarar que las contraseñas siguen en texto plano dentro del código —eso lo dejamos como mejora pendiente para una V.3, junto con guardar las credenciales fuera del código fuente—, pero el control de quién puede hacer qué ya está resuelto.</a:t>
            </a:r>
            <a:endParaRPr/>
          </a:p>
        </p:txBody>
      </p:sp>
      <p:sp>
        <p:nvSpPr>
          <p:cNvPr id="81" name="Google Shape;8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segundo punto tiene que ver con cómo el programa recibe los datos que escribe el usuario. En la Versión 1, para validar el nombre del cliente se hacía esto: [mostrar código]. Esto solo bloquea números, nada más. Si yo escribo un nombre de 3.000 caracteres, el sistema lo acepta igual, porque no hay control de longitud. Y si escribo símbolos como comillas, punto y coma, o signos como &lt; o &gt;, tampoco hay ningún filtro. En un sistema real conectado a una base de datos, ingresar esos caracteres sin control es justamente la puerta de entrada a ataques de inyección. Además, este bloque de validación estaba copiado y pegado en cada función que pedía un texto, lo que significa que si un compañero se equivocaba al copiarlo, quedaba una función sin protección y nadie se daría cuenta a simple vista.</a:t>
            </a:r>
            <a:endParaRPr/>
          </a:p>
        </p:txBody>
      </p:sp>
      <p:sp>
        <p:nvSpPr>
          <p:cNvPr id="112" name="Google Shape;11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En la Versión 2 resolvimos esto creando dos funciones genéricas de validación, que se usan en todo el programa. La primera es para textos: rechaza campos vacíos, limita la cantidad máxima de caracteres que se pueden ingresar, y bloquea todos los caracteres especiales de una lista definida. La segunda función es para números: controla que lo ingresado sea realmente un número entero, y que además esté dentro de un rango lógico —por ejemplo, que un precio no pueda ser negativo o cero. Lo importante de este cambio no es solo que sea 'más seguro', sino que ahora toda la validación pasa por el mismo lugar. Si mañana queremos agregar una nueva regla de seguridad, la agregamos una sola vez en solicitar_texto_seguro o solicitar_numero_seguro, y automáticamente protege a todo el sistema, en vez de tener que ir función por función como en la Versión 1.</a:t>
            </a:r>
            <a:endParaRPr/>
          </a:p>
        </p:txBody>
      </p:sp>
      <p:sp>
        <p:nvSpPr>
          <p:cNvPr id="139" name="Google Shape;13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El último punto es más estructural. En la Versión 1, todo el programa —el login, las validaciones, el menú y la lógica de negocio— está en un solo archivo, V.1.py, de principio a fin. Esto hace que sea difícil de mantener: si algo falla, hay que revisar un archivo completo donde se mezclan cosas muy distintas entre sí. En la Versión 2 dividimos el proyecto en dos archivos: V.2.py se encarga solo del login y de mostrar el menú, y funciones_funeraria.py contiene toda la lógica de negocio y las validaciones de seguridad. [mostrar código de las llamadas]. Esto se llama separación de responsabilidades: cada archivo hace una sola cosa. Si en el futuro necesitamos auditar la seguridad del sistema, revisamos únicamente funciones_funeraria.py, sin tener que preocuparnos por el código del menú o la interfaz. Es una práctica estándar en programación segura, porque reduce la superficie donde puede aparecer un error y facilita las pruebas.</a:t>
            </a:r>
            <a:endParaRPr/>
          </a:p>
        </p:txBody>
      </p:sp>
      <p:sp>
        <p:nvSpPr>
          <p:cNvPr id="176" name="Google Shape;1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Para resumir: la Versión 1 funciona, pero fue escrita sin pensar en seguridad. La Versión 2 toma exactamente la misma funcionalidad y le aplica tres mejoras concretas que vimos en el curso: control de acceso por roles, aplicando el principio de mínimo privilegio; validación centralizada y estricta de las entradas, con límite de longitud y bloqueo de caracteres especiales; y separación de responsabilidades en módulos, para un código más mantenible y auditable. Como trabajo futuro para una eventual Versión 3, dejamos propuesto: cifrar o aplicar hash a las contraseñas, sacar las credenciales del código fuente, y usar una base de datos real con consultas parametrizadas para evitar inyección. Con esto termino la exposición. Quedo atento a sus preguntas.</a:t>
            </a:r>
            <a:endParaRPr/>
          </a:p>
        </p:txBody>
      </p:sp>
      <p:sp>
        <p:nvSpPr>
          <p:cNvPr id="214" name="Google Shape;2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7.png"/><Relationship Id="rId6" Type="http://schemas.openxmlformats.org/officeDocument/2006/relationships/image" Target="../media/image1.png"/><Relationship Id="rId7"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2.png"/><Relationship Id="rId7" Type="http://schemas.openxmlformats.org/officeDocument/2006/relationships/image" Target="../media/image20.jpg"/><Relationship Id="rId8" Type="http://schemas.openxmlformats.org/officeDocument/2006/relationships/image" Target="../media/image1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3.png"/><Relationship Id="rId5" Type="http://schemas.openxmlformats.org/officeDocument/2006/relationships/image" Target="../media/image18.jpg"/><Relationship Id="rId6"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16.jpg"/><Relationship Id="rId7" Type="http://schemas.openxmlformats.org/officeDocument/2006/relationships/image" Target="../media/image2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454F"/>
        </a:solidFill>
      </p:bgPr>
    </p:bg>
    <p:spTree>
      <p:nvGrpSpPr>
        <p:cNvPr id="15" name="Shape 15"/>
        <p:cNvGrpSpPr/>
        <p:nvPr/>
      </p:nvGrpSpPr>
      <p:grpSpPr>
        <a:xfrm>
          <a:off x="0" y="0"/>
          <a:ext cx="0" cy="0"/>
          <a:chOff x="0" y="0"/>
          <a:chExt cx="0" cy="0"/>
        </a:xfrm>
      </p:grpSpPr>
      <p:sp>
        <p:nvSpPr>
          <p:cNvPr id="16" name="Google Shape;16;p1"/>
          <p:cNvSpPr/>
          <p:nvPr/>
        </p:nvSpPr>
        <p:spPr>
          <a:xfrm>
            <a:off x="8778240" y="-2103120"/>
            <a:ext cx="6400800" cy="6400800"/>
          </a:xfrm>
          <a:prstGeom prst="ellipse">
            <a:avLst/>
          </a:prstGeom>
          <a:solidFill>
            <a:srgbClr val="252F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
          <p:cNvPicPr preferRelativeResize="0"/>
          <p:nvPr/>
        </p:nvPicPr>
        <p:blipFill rotWithShape="1">
          <a:blip r:embed="rId3">
            <a:alphaModFix/>
          </a:blip>
          <a:srcRect b="0" l="0" r="0" t="0"/>
          <a:stretch/>
        </p:blipFill>
        <p:spPr>
          <a:xfrm>
            <a:off x="822960" y="777240"/>
            <a:ext cx="502920" cy="502920"/>
          </a:xfrm>
          <a:prstGeom prst="rect">
            <a:avLst/>
          </a:prstGeom>
          <a:noFill/>
          <a:ln>
            <a:noFill/>
          </a:ln>
        </p:spPr>
      </p:pic>
      <p:sp>
        <p:nvSpPr>
          <p:cNvPr id="18" name="Google Shape;18;p1"/>
          <p:cNvSpPr/>
          <p:nvPr/>
        </p:nvSpPr>
        <p:spPr>
          <a:xfrm>
            <a:off x="822960" y="137160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2D8"/>
              </a:buClr>
              <a:buSzPts val="1350"/>
              <a:buFont typeface="Calibri"/>
              <a:buNone/>
            </a:pPr>
            <a:r>
              <a:rPr b="1" i="0" lang="en-US" sz="1350" u="none" cap="none" strike="noStrike">
                <a:solidFill>
                  <a:srgbClr val="C9D2D8"/>
                </a:solidFill>
                <a:latin typeface="Calibri"/>
                <a:ea typeface="Calibri"/>
                <a:cs typeface="Calibri"/>
                <a:sym typeface="Calibri"/>
              </a:rPr>
              <a:t>INTRODUCCIÓN A LA PROGRAMACIÓN SEGURA</a:t>
            </a:r>
            <a:endParaRPr b="0" i="0" sz="1350" u="none" cap="none" strike="noStrike">
              <a:solidFill>
                <a:schemeClr val="dk1"/>
              </a:solidFill>
              <a:latin typeface="Calibri"/>
              <a:ea typeface="Calibri"/>
              <a:cs typeface="Calibri"/>
              <a:sym typeface="Calibri"/>
            </a:endParaRPr>
          </a:p>
        </p:txBody>
      </p:sp>
      <p:sp>
        <p:nvSpPr>
          <p:cNvPr id="19" name="Google Shape;19;p1"/>
          <p:cNvSpPr/>
          <p:nvPr/>
        </p:nvSpPr>
        <p:spPr>
          <a:xfrm>
            <a:off x="777240" y="1828800"/>
            <a:ext cx="9601200" cy="11887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Cambria"/>
              <a:buNone/>
            </a:pPr>
            <a:r>
              <a:rPr b="1" i="0" lang="en-US" sz="4400" u="none" cap="none" strike="noStrike">
                <a:solidFill>
                  <a:srgbClr val="FFFFFF"/>
                </a:solidFill>
                <a:latin typeface="Cambria"/>
                <a:ea typeface="Cambria"/>
                <a:cs typeface="Cambria"/>
                <a:sym typeface="Cambria"/>
              </a:rPr>
              <a:t>Sistema de Gestión Funeraria</a:t>
            </a:r>
            <a:endParaRPr b="0" i="0" sz="4400" u="none" cap="none" strike="noStrike">
              <a:solidFill>
                <a:schemeClr val="dk1"/>
              </a:solidFill>
              <a:latin typeface="Calibri"/>
              <a:ea typeface="Calibri"/>
              <a:cs typeface="Calibri"/>
              <a:sym typeface="Calibri"/>
            </a:endParaRPr>
          </a:p>
        </p:txBody>
      </p:sp>
      <p:sp>
        <p:nvSpPr>
          <p:cNvPr id="20" name="Google Shape;20;p1"/>
          <p:cNvSpPr/>
          <p:nvPr/>
        </p:nvSpPr>
        <p:spPr>
          <a:xfrm>
            <a:off x="822960" y="288036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DE3E7"/>
              </a:buClr>
              <a:buSzPts val="2600"/>
              <a:buFont typeface="Cambria"/>
              <a:buNone/>
            </a:pPr>
            <a:r>
              <a:rPr b="0" i="0" lang="en-US" sz="2600" u="none" cap="none" strike="noStrike">
                <a:solidFill>
                  <a:srgbClr val="DDE3E7"/>
                </a:solidFill>
                <a:latin typeface="Cambria"/>
                <a:ea typeface="Cambria"/>
                <a:cs typeface="Cambria"/>
                <a:sym typeface="Cambria"/>
              </a:rPr>
              <a:t>De </a:t>
            </a:r>
            <a:r>
              <a:rPr b="1" i="0" lang="en-US" sz="2600" u="none" cap="none" strike="noStrike">
                <a:solidFill>
                  <a:srgbClr val="E8B4AE"/>
                </a:solidFill>
                <a:latin typeface="Cambria"/>
                <a:ea typeface="Cambria"/>
                <a:cs typeface="Cambria"/>
                <a:sym typeface="Cambria"/>
              </a:rPr>
              <a:t>Versión 1</a:t>
            </a:r>
            <a:r>
              <a:rPr b="0" i="0" lang="en-US" sz="2600" u="none" cap="none" strike="noStrike">
                <a:solidFill>
                  <a:srgbClr val="DDE3E7"/>
                </a:solidFill>
                <a:latin typeface="Cambria"/>
                <a:ea typeface="Cambria"/>
                <a:cs typeface="Cambria"/>
                <a:sym typeface="Cambria"/>
              </a:rPr>
              <a:t>  a  </a:t>
            </a:r>
            <a:r>
              <a:rPr b="1" i="0" lang="en-US" sz="2600" u="none" cap="none" strike="noStrike">
                <a:solidFill>
                  <a:srgbClr val="A9DED2"/>
                </a:solidFill>
                <a:latin typeface="Cambria"/>
                <a:ea typeface="Cambria"/>
                <a:cs typeface="Cambria"/>
                <a:sym typeface="Cambria"/>
              </a:rPr>
              <a:t>Versión 2</a:t>
            </a:r>
            <a:endParaRPr b="0" i="0" sz="2600" u="none" cap="none" strike="noStrike">
              <a:solidFill>
                <a:schemeClr val="dk1"/>
              </a:solidFill>
              <a:latin typeface="Calibri"/>
              <a:ea typeface="Calibri"/>
              <a:cs typeface="Calibri"/>
              <a:sym typeface="Calibri"/>
            </a:endParaRPr>
          </a:p>
        </p:txBody>
      </p:sp>
      <p:sp>
        <p:nvSpPr>
          <p:cNvPr id="21" name="Google Shape;21;p1"/>
          <p:cNvSpPr/>
          <p:nvPr/>
        </p:nvSpPr>
        <p:spPr>
          <a:xfrm>
            <a:off x="822960" y="3794760"/>
            <a:ext cx="4937760" cy="18288"/>
          </a:xfrm>
          <a:prstGeom prst="rect">
            <a:avLst/>
          </a:prstGeom>
          <a:solidFill>
            <a:srgbClr val="56636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822960" y="40690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6AD"/>
              </a:buClr>
              <a:buSzPts val="1200"/>
              <a:buFont typeface="Calibri"/>
              <a:buNone/>
            </a:pPr>
            <a:r>
              <a:rPr b="0" i="0" lang="en-US" sz="1200" u="none" cap="none" strike="noStrike">
                <a:solidFill>
                  <a:srgbClr val="9AA6AD"/>
                </a:solidFill>
                <a:latin typeface="Calibri"/>
                <a:ea typeface="Calibri"/>
                <a:cs typeface="Calibri"/>
                <a:sym typeface="Calibri"/>
              </a:rPr>
              <a:t>Integrantes del proyecto</a:t>
            </a:r>
            <a:endParaRPr b="0" i="0" sz="1200" u="none" cap="none" strike="noStrike">
              <a:solidFill>
                <a:schemeClr val="dk1"/>
              </a:solidFill>
              <a:latin typeface="Calibri"/>
              <a:ea typeface="Calibri"/>
              <a:cs typeface="Calibri"/>
              <a:sym typeface="Calibri"/>
            </a:endParaRPr>
          </a:p>
        </p:txBody>
      </p:sp>
      <p:sp>
        <p:nvSpPr>
          <p:cNvPr id="23" name="Google Shape;23;p1"/>
          <p:cNvSpPr/>
          <p:nvPr/>
        </p:nvSpPr>
        <p:spPr>
          <a:xfrm>
            <a:off x="822960" y="4370832"/>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50"/>
              <a:buFont typeface="Calibri"/>
              <a:buNone/>
            </a:pPr>
            <a:r>
              <a:rPr b="0" i="0" lang="en-US" sz="1550" u="none" cap="none" strike="noStrike">
                <a:solidFill>
                  <a:srgbClr val="FFFFFF"/>
                </a:solidFill>
                <a:latin typeface="Calibri"/>
                <a:ea typeface="Calibri"/>
                <a:cs typeface="Calibri"/>
                <a:sym typeface="Calibri"/>
              </a:rPr>
              <a:t>Cristóbal Cancino  ·  Santiago Chacín  ·  Kevin Sanchez</a:t>
            </a:r>
            <a:endParaRPr b="0" i="0" sz="15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2"/>
          <p:cNvSpPr/>
          <p:nvPr/>
        </p:nvSpPr>
        <p:spPr>
          <a:xfrm>
            <a:off x="640080" y="502920"/>
            <a:ext cx="9144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3200"/>
              <a:buFont typeface="Cambria"/>
              <a:buNone/>
            </a:pPr>
            <a:r>
              <a:rPr b="1" i="0" lang="en-US" sz="3200" u="none" cap="none" strike="noStrike">
                <a:solidFill>
                  <a:srgbClr val="36454F"/>
                </a:solidFill>
                <a:latin typeface="Cambria"/>
                <a:ea typeface="Cambria"/>
                <a:cs typeface="Cambria"/>
                <a:sym typeface="Cambria"/>
              </a:rPr>
              <a:t>Qué vamos a revisar</a:t>
            </a:r>
            <a:endParaRPr b="0" i="0" sz="3200" u="none" cap="none" strike="noStrike">
              <a:solidFill>
                <a:schemeClr val="dk1"/>
              </a:solidFill>
              <a:latin typeface="Calibri"/>
              <a:ea typeface="Calibri"/>
              <a:cs typeface="Calibri"/>
              <a:sym typeface="Calibri"/>
            </a:endParaRPr>
          </a:p>
        </p:txBody>
      </p:sp>
      <p:sp>
        <p:nvSpPr>
          <p:cNvPr id="30" name="Google Shape;30;p2"/>
          <p:cNvSpPr/>
          <p:nvPr/>
        </p:nvSpPr>
        <p:spPr>
          <a:xfrm>
            <a:off x="640080" y="109728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450"/>
              <a:buFont typeface="Calibri"/>
              <a:buNone/>
            </a:pPr>
            <a:r>
              <a:rPr b="0" i="0" lang="en-US" sz="1450" u="none" cap="none" strike="noStrike">
                <a:solidFill>
                  <a:srgbClr val="6B7680"/>
                </a:solidFill>
                <a:latin typeface="Calibri"/>
                <a:ea typeface="Calibri"/>
                <a:cs typeface="Calibri"/>
                <a:sym typeface="Calibri"/>
              </a:rPr>
              <a:t>Misma funcionalidad, dos formas muy distintas de construirla.</a:t>
            </a:r>
            <a:endParaRPr b="0" i="0" sz="1450" u="none" cap="none" strike="noStrike">
              <a:solidFill>
                <a:schemeClr val="dk1"/>
              </a:solidFill>
              <a:latin typeface="Calibri"/>
              <a:ea typeface="Calibri"/>
              <a:cs typeface="Calibri"/>
              <a:sym typeface="Calibri"/>
            </a:endParaRPr>
          </a:p>
        </p:txBody>
      </p:sp>
      <p:sp>
        <p:nvSpPr>
          <p:cNvPr id="31" name="Google Shape;31;p2"/>
          <p:cNvSpPr/>
          <p:nvPr/>
        </p:nvSpPr>
        <p:spPr>
          <a:xfrm>
            <a:off x="640080" y="1783080"/>
            <a:ext cx="10881360" cy="1417320"/>
          </a:xfrm>
          <a:prstGeom prst="roundRect">
            <a:avLst>
              <a:gd fmla="val 5161" name="adj"/>
            </a:avLst>
          </a:prstGeom>
          <a:solidFill>
            <a:srgbClr val="F2F2F2"/>
          </a:solidFill>
          <a:ln>
            <a:noFill/>
          </a:ln>
          <a:effectLst>
            <a:outerShdw blurRad="635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868680" y="1920240"/>
            <a:ext cx="914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DD2"/>
              </a:buClr>
              <a:buSzPts val="3400"/>
              <a:buFont typeface="Cambria"/>
              <a:buNone/>
            </a:pPr>
            <a:r>
              <a:rPr b="1" i="0" lang="en-US" sz="3400" u="none" cap="none" strike="noStrike">
                <a:solidFill>
                  <a:srgbClr val="C7CDD2"/>
                </a:solidFill>
                <a:latin typeface="Cambria"/>
                <a:ea typeface="Cambria"/>
                <a:cs typeface="Cambria"/>
                <a:sym typeface="Cambria"/>
              </a:rPr>
              <a:t>01</a:t>
            </a:r>
            <a:endParaRPr b="0" i="0" sz="3400" u="none" cap="none" strike="noStrike">
              <a:solidFill>
                <a:schemeClr val="dk1"/>
              </a:solidFill>
              <a:latin typeface="Calibri"/>
              <a:ea typeface="Calibri"/>
              <a:cs typeface="Calibri"/>
              <a:sym typeface="Calibri"/>
            </a:endParaRPr>
          </a:p>
        </p:txBody>
      </p:sp>
      <p:sp>
        <p:nvSpPr>
          <p:cNvPr id="33" name="Google Shape;33;p2"/>
          <p:cNvSpPr/>
          <p:nvPr/>
        </p:nvSpPr>
        <p:spPr>
          <a:xfrm>
            <a:off x="1965960" y="2171700"/>
            <a:ext cx="640080" cy="640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 name="Google Shape;34;p2"/>
          <p:cNvPicPr preferRelativeResize="0"/>
          <p:nvPr/>
        </p:nvPicPr>
        <p:blipFill rotWithShape="1">
          <a:blip r:embed="rId3">
            <a:alphaModFix/>
          </a:blip>
          <a:srcRect b="0" l="0" r="0" t="0"/>
          <a:stretch/>
        </p:blipFill>
        <p:spPr>
          <a:xfrm>
            <a:off x="2121408" y="2327148"/>
            <a:ext cx="329184" cy="329184"/>
          </a:xfrm>
          <a:prstGeom prst="rect">
            <a:avLst/>
          </a:prstGeom>
          <a:noFill/>
          <a:ln>
            <a:noFill/>
          </a:ln>
        </p:spPr>
      </p:pic>
      <p:sp>
        <p:nvSpPr>
          <p:cNvPr id="35" name="Google Shape;35;p2"/>
          <p:cNvSpPr/>
          <p:nvPr/>
        </p:nvSpPr>
        <p:spPr>
          <a:xfrm>
            <a:off x="2926080" y="1965960"/>
            <a:ext cx="8321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1800"/>
              <a:buFont typeface="Cambria"/>
              <a:buNone/>
            </a:pPr>
            <a:r>
              <a:rPr b="1" i="0" lang="en-US" sz="1800" u="none" cap="none" strike="noStrike">
                <a:solidFill>
                  <a:srgbClr val="36454F"/>
                </a:solidFill>
                <a:latin typeface="Cambria"/>
                <a:ea typeface="Cambria"/>
                <a:cs typeface="Cambria"/>
                <a:sym typeface="Cambria"/>
              </a:rPr>
              <a:t>Login y control de acceso</a:t>
            </a:r>
            <a:endParaRPr b="0" i="0" sz="1800" u="none" cap="none" strike="noStrike">
              <a:solidFill>
                <a:schemeClr val="dk1"/>
              </a:solidFill>
              <a:latin typeface="Calibri"/>
              <a:ea typeface="Calibri"/>
              <a:cs typeface="Calibri"/>
              <a:sym typeface="Calibri"/>
            </a:endParaRPr>
          </a:p>
        </p:txBody>
      </p:sp>
      <p:sp>
        <p:nvSpPr>
          <p:cNvPr id="36" name="Google Shape;36;p2"/>
          <p:cNvSpPr/>
          <p:nvPr/>
        </p:nvSpPr>
        <p:spPr>
          <a:xfrm>
            <a:off x="2926080" y="2404872"/>
            <a:ext cx="8321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300"/>
              <a:buFont typeface="Calibri"/>
              <a:buNone/>
            </a:pPr>
            <a:r>
              <a:rPr b="0" i="0" lang="en-US" sz="1300" u="none" cap="none" strike="noStrike">
                <a:solidFill>
                  <a:srgbClr val="6B7680"/>
                </a:solidFill>
                <a:latin typeface="Calibri"/>
                <a:ea typeface="Calibri"/>
                <a:cs typeface="Calibri"/>
                <a:sym typeface="Calibri"/>
              </a:rPr>
              <a:t>Contraseñas en texto plano y ningún rol de usuario en la V.1, frente a control de acceso por roles en la V.2.</a:t>
            </a:r>
            <a:endParaRPr b="0" i="0" sz="1300" u="none" cap="none" strike="noStrike">
              <a:solidFill>
                <a:schemeClr val="dk1"/>
              </a:solidFill>
              <a:latin typeface="Calibri"/>
              <a:ea typeface="Calibri"/>
              <a:cs typeface="Calibri"/>
              <a:sym typeface="Calibri"/>
            </a:endParaRPr>
          </a:p>
        </p:txBody>
      </p:sp>
      <p:sp>
        <p:nvSpPr>
          <p:cNvPr id="37" name="Google Shape;37;p2"/>
          <p:cNvSpPr/>
          <p:nvPr/>
        </p:nvSpPr>
        <p:spPr>
          <a:xfrm>
            <a:off x="640080" y="3474720"/>
            <a:ext cx="10881360" cy="1417320"/>
          </a:xfrm>
          <a:prstGeom prst="roundRect">
            <a:avLst>
              <a:gd fmla="val 5161" name="adj"/>
            </a:avLst>
          </a:prstGeom>
          <a:solidFill>
            <a:srgbClr val="F2F2F2"/>
          </a:solidFill>
          <a:ln>
            <a:noFill/>
          </a:ln>
          <a:effectLst>
            <a:outerShdw blurRad="635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868680" y="3611880"/>
            <a:ext cx="914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DD2"/>
              </a:buClr>
              <a:buSzPts val="3400"/>
              <a:buFont typeface="Cambria"/>
              <a:buNone/>
            </a:pPr>
            <a:r>
              <a:rPr b="1" i="0" lang="en-US" sz="3400" u="none" cap="none" strike="noStrike">
                <a:solidFill>
                  <a:srgbClr val="C7CDD2"/>
                </a:solidFill>
                <a:latin typeface="Cambria"/>
                <a:ea typeface="Cambria"/>
                <a:cs typeface="Cambria"/>
                <a:sym typeface="Cambria"/>
              </a:rPr>
              <a:t>02</a:t>
            </a:r>
            <a:endParaRPr b="0" i="0" sz="3400" u="none" cap="none" strike="noStrike">
              <a:solidFill>
                <a:schemeClr val="dk1"/>
              </a:solidFill>
              <a:latin typeface="Calibri"/>
              <a:ea typeface="Calibri"/>
              <a:cs typeface="Calibri"/>
              <a:sym typeface="Calibri"/>
            </a:endParaRPr>
          </a:p>
        </p:txBody>
      </p:sp>
      <p:sp>
        <p:nvSpPr>
          <p:cNvPr id="39" name="Google Shape;39;p2"/>
          <p:cNvSpPr/>
          <p:nvPr/>
        </p:nvSpPr>
        <p:spPr>
          <a:xfrm>
            <a:off x="1965960" y="3863340"/>
            <a:ext cx="640080" cy="640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0" name="Google Shape;40;p2"/>
          <p:cNvPicPr preferRelativeResize="0"/>
          <p:nvPr/>
        </p:nvPicPr>
        <p:blipFill rotWithShape="1">
          <a:blip r:embed="rId4">
            <a:alphaModFix/>
          </a:blip>
          <a:srcRect b="0" l="0" r="0" t="0"/>
          <a:stretch/>
        </p:blipFill>
        <p:spPr>
          <a:xfrm>
            <a:off x="2121408" y="4018788"/>
            <a:ext cx="329184" cy="329184"/>
          </a:xfrm>
          <a:prstGeom prst="rect">
            <a:avLst/>
          </a:prstGeom>
          <a:noFill/>
          <a:ln>
            <a:noFill/>
          </a:ln>
        </p:spPr>
      </p:pic>
      <p:sp>
        <p:nvSpPr>
          <p:cNvPr id="41" name="Google Shape;41;p2"/>
          <p:cNvSpPr/>
          <p:nvPr/>
        </p:nvSpPr>
        <p:spPr>
          <a:xfrm>
            <a:off x="2926080" y="3657600"/>
            <a:ext cx="8321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1800"/>
              <a:buFont typeface="Cambria"/>
              <a:buNone/>
            </a:pPr>
            <a:r>
              <a:rPr b="1" i="0" lang="en-US" sz="1800" u="none" cap="none" strike="noStrike">
                <a:solidFill>
                  <a:srgbClr val="36454F"/>
                </a:solidFill>
                <a:latin typeface="Cambria"/>
                <a:ea typeface="Cambria"/>
                <a:cs typeface="Cambria"/>
                <a:sym typeface="Cambria"/>
              </a:rPr>
              <a:t>Validación y saneamiento de entradas</a:t>
            </a:r>
            <a:endParaRPr b="0" i="0" sz="1800" u="none" cap="none" strike="noStrike">
              <a:solidFill>
                <a:schemeClr val="dk1"/>
              </a:solidFill>
              <a:latin typeface="Calibri"/>
              <a:ea typeface="Calibri"/>
              <a:cs typeface="Calibri"/>
              <a:sym typeface="Calibri"/>
            </a:endParaRPr>
          </a:p>
        </p:txBody>
      </p:sp>
      <p:sp>
        <p:nvSpPr>
          <p:cNvPr id="42" name="Google Shape;42;p2"/>
          <p:cNvSpPr/>
          <p:nvPr/>
        </p:nvSpPr>
        <p:spPr>
          <a:xfrm>
            <a:off x="2926080" y="4096512"/>
            <a:ext cx="8321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300"/>
              <a:buFont typeface="Calibri"/>
              <a:buNone/>
            </a:pPr>
            <a:r>
              <a:rPr b="0" i="0" lang="en-US" sz="1300" u="none" cap="none" strike="noStrike">
                <a:solidFill>
                  <a:srgbClr val="6B7680"/>
                </a:solidFill>
                <a:latin typeface="Calibri"/>
                <a:ea typeface="Calibri"/>
                <a:cs typeface="Calibri"/>
                <a:sym typeface="Calibri"/>
              </a:rPr>
              <a:t>Sin límite de largo ni filtro de caracteres en la V.1, frente a validación centralizada y estricta en la V.2.</a:t>
            </a:r>
            <a:endParaRPr b="0" i="0" sz="1300" u="none" cap="none" strike="noStrike">
              <a:solidFill>
                <a:schemeClr val="dk1"/>
              </a:solidFill>
              <a:latin typeface="Calibri"/>
              <a:ea typeface="Calibri"/>
              <a:cs typeface="Calibri"/>
              <a:sym typeface="Calibri"/>
            </a:endParaRPr>
          </a:p>
        </p:txBody>
      </p:sp>
      <p:sp>
        <p:nvSpPr>
          <p:cNvPr id="43" name="Google Shape;43;p2"/>
          <p:cNvSpPr/>
          <p:nvPr/>
        </p:nvSpPr>
        <p:spPr>
          <a:xfrm>
            <a:off x="640080" y="5166360"/>
            <a:ext cx="10881360" cy="1417320"/>
          </a:xfrm>
          <a:prstGeom prst="roundRect">
            <a:avLst>
              <a:gd fmla="val 5161" name="adj"/>
            </a:avLst>
          </a:prstGeom>
          <a:solidFill>
            <a:srgbClr val="F2F2F2"/>
          </a:solidFill>
          <a:ln>
            <a:noFill/>
          </a:ln>
          <a:effectLst>
            <a:outerShdw blurRad="63500" rotWithShape="0" algn="bl" dir="5400000" dist="254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868680" y="5303520"/>
            <a:ext cx="914400" cy="114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CDD2"/>
              </a:buClr>
              <a:buSzPts val="3400"/>
              <a:buFont typeface="Cambria"/>
              <a:buNone/>
            </a:pPr>
            <a:r>
              <a:rPr b="1" i="0" lang="en-US" sz="3400" u="none" cap="none" strike="noStrike">
                <a:solidFill>
                  <a:srgbClr val="C7CDD2"/>
                </a:solidFill>
                <a:latin typeface="Cambria"/>
                <a:ea typeface="Cambria"/>
                <a:cs typeface="Cambria"/>
                <a:sym typeface="Cambria"/>
              </a:rPr>
              <a:t>03</a:t>
            </a:r>
            <a:endParaRPr b="0" i="0" sz="3400" u="none" cap="none" strike="noStrike">
              <a:solidFill>
                <a:schemeClr val="dk1"/>
              </a:solidFill>
              <a:latin typeface="Calibri"/>
              <a:ea typeface="Calibri"/>
              <a:cs typeface="Calibri"/>
              <a:sym typeface="Calibri"/>
            </a:endParaRPr>
          </a:p>
        </p:txBody>
      </p:sp>
      <p:sp>
        <p:nvSpPr>
          <p:cNvPr id="45" name="Google Shape;45;p2"/>
          <p:cNvSpPr/>
          <p:nvPr/>
        </p:nvSpPr>
        <p:spPr>
          <a:xfrm>
            <a:off x="1965960" y="5554980"/>
            <a:ext cx="640080" cy="64008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6" name="Google Shape;46;p2"/>
          <p:cNvPicPr preferRelativeResize="0"/>
          <p:nvPr/>
        </p:nvPicPr>
        <p:blipFill rotWithShape="1">
          <a:blip r:embed="rId5">
            <a:alphaModFix/>
          </a:blip>
          <a:srcRect b="0" l="0" r="0" t="0"/>
          <a:stretch/>
        </p:blipFill>
        <p:spPr>
          <a:xfrm>
            <a:off x="2121408" y="5710428"/>
            <a:ext cx="329184" cy="329184"/>
          </a:xfrm>
          <a:prstGeom prst="rect">
            <a:avLst/>
          </a:prstGeom>
          <a:noFill/>
          <a:ln>
            <a:noFill/>
          </a:ln>
        </p:spPr>
      </p:pic>
      <p:sp>
        <p:nvSpPr>
          <p:cNvPr id="47" name="Google Shape;47;p2"/>
          <p:cNvSpPr/>
          <p:nvPr/>
        </p:nvSpPr>
        <p:spPr>
          <a:xfrm>
            <a:off x="2926080" y="5349240"/>
            <a:ext cx="8321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1800"/>
              <a:buFont typeface="Cambria"/>
              <a:buNone/>
            </a:pPr>
            <a:r>
              <a:rPr b="1" i="0" lang="en-US" sz="1800" u="none" cap="none" strike="noStrike">
                <a:solidFill>
                  <a:srgbClr val="36454F"/>
                </a:solidFill>
                <a:latin typeface="Cambria"/>
                <a:ea typeface="Cambria"/>
                <a:cs typeface="Cambria"/>
                <a:sym typeface="Cambria"/>
              </a:rPr>
              <a:t>Organización del código</a:t>
            </a:r>
            <a:endParaRPr b="0" i="0" sz="1800" u="none" cap="none" strike="noStrike">
              <a:solidFill>
                <a:schemeClr val="dk1"/>
              </a:solidFill>
              <a:latin typeface="Calibri"/>
              <a:ea typeface="Calibri"/>
              <a:cs typeface="Calibri"/>
              <a:sym typeface="Calibri"/>
            </a:endParaRPr>
          </a:p>
        </p:txBody>
      </p:sp>
      <p:sp>
        <p:nvSpPr>
          <p:cNvPr id="48" name="Google Shape;48;p2"/>
          <p:cNvSpPr/>
          <p:nvPr/>
        </p:nvSpPr>
        <p:spPr>
          <a:xfrm>
            <a:off x="2926080" y="5788152"/>
            <a:ext cx="8321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300"/>
              <a:buFont typeface="Calibri"/>
              <a:buNone/>
            </a:pPr>
            <a:r>
              <a:rPr b="0" i="0" lang="en-US" sz="1300" u="none" cap="none" strike="noStrike">
                <a:solidFill>
                  <a:srgbClr val="6B7680"/>
                </a:solidFill>
                <a:latin typeface="Calibri"/>
                <a:ea typeface="Calibri"/>
                <a:cs typeface="Calibri"/>
                <a:sym typeface="Calibri"/>
              </a:rPr>
              <a:t>Un solo archivo mezclando todo en la V.1, frente a separación de responsabilidades en la V.2.</a:t>
            </a:r>
            <a:endParaRPr b="0" i="0" sz="1300" u="none" cap="none" strike="noStrike">
              <a:solidFill>
                <a:schemeClr val="dk1"/>
              </a:solidFill>
              <a:latin typeface="Calibri"/>
              <a:ea typeface="Calibri"/>
              <a:cs typeface="Calibri"/>
              <a:sym typeface="Calibri"/>
            </a:endParaRPr>
          </a:p>
        </p:txBody>
      </p:sp>
      <p:sp>
        <p:nvSpPr>
          <p:cNvPr id="49" name="Google Shape;49;p2"/>
          <p:cNvSpPr/>
          <p:nvPr/>
        </p:nvSpPr>
        <p:spPr>
          <a:xfrm>
            <a:off x="457200" y="6473952"/>
            <a:ext cx="7772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Sistema de Gestión Funeraria · Introducción a la Programación Segura</a:t>
            </a:r>
            <a:endParaRPr b="0" i="0" sz="950" u="none" cap="none" strike="noStrike">
              <a:solidFill>
                <a:schemeClr val="dk1"/>
              </a:solidFill>
              <a:latin typeface="Calibri"/>
              <a:ea typeface="Calibri"/>
              <a:cs typeface="Calibri"/>
              <a:sym typeface="Calibri"/>
            </a:endParaRPr>
          </a:p>
        </p:txBody>
      </p:sp>
      <p:sp>
        <p:nvSpPr>
          <p:cNvPr id="50" name="Google Shape;50;p2"/>
          <p:cNvSpPr/>
          <p:nvPr/>
        </p:nvSpPr>
        <p:spPr>
          <a:xfrm>
            <a:off x="10362895" y="6473952"/>
            <a:ext cx="13716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2</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 name="Shape 55"/>
        <p:cNvGrpSpPr/>
        <p:nvPr/>
      </p:nvGrpSpPr>
      <p:grpSpPr>
        <a:xfrm>
          <a:off x="0" y="0"/>
          <a:ext cx="0" cy="0"/>
          <a:chOff x="0" y="0"/>
          <a:chExt cx="0" cy="0"/>
        </a:xfrm>
      </p:grpSpPr>
      <p:sp>
        <p:nvSpPr>
          <p:cNvPr id="56" name="Google Shape;56;p3"/>
          <p:cNvSpPr/>
          <p:nvPr/>
        </p:nvSpPr>
        <p:spPr>
          <a:xfrm>
            <a:off x="-914400" y="-914400"/>
            <a:ext cx="2194500" cy="2194500"/>
          </a:xfrm>
          <a:prstGeom prst="ellipse">
            <a:avLst/>
          </a:prstGeom>
          <a:solidFill>
            <a:srgbClr val="FBEA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57" name="Google Shape;57;p3"/>
          <p:cNvPicPr preferRelativeResize="0"/>
          <p:nvPr/>
        </p:nvPicPr>
        <p:blipFill rotWithShape="1">
          <a:blip r:embed="rId3">
            <a:alphaModFix/>
          </a:blip>
          <a:srcRect b="0" l="0" r="0" t="0"/>
          <a:stretch/>
        </p:blipFill>
        <p:spPr>
          <a:xfrm>
            <a:off x="640080" y="457200"/>
            <a:ext cx="384048" cy="384048"/>
          </a:xfrm>
          <a:prstGeom prst="rect">
            <a:avLst/>
          </a:prstGeom>
          <a:noFill/>
          <a:ln>
            <a:noFill/>
          </a:ln>
        </p:spPr>
      </p:pic>
      <p:sp>
        <p:nvSpPr>
          <p:cNvPr id="58" name="Google Shape;58;p3"/>
          <p:cNvSpPr/>
          <p:nvPr/>
        </p:nvSpPr>
        <p:spPr>
          <a:xfrm>
            <a:off x="1143000" y="475488"/>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alibri"/>
              <a:buNone/>
            </a:pPr>
            <a:r>
              <a:rPr b="1" i="0" lang="en-US" sz="1250" u="none" cap="none" strike="noStrike">
                <a:solidFill>
                  <a:srgbClr val="6B7680"/>
                </a:solidFill>
                <a:latin typeface="Calibri"/>
                <a:ea typeface="Calibri"/>
                <a:cs typeface="Calibri"/>
                <a:sym typeface="Calibri"/>
              </a:rPr>
              <a:t>BLOQUE 1 · LOGIN Y CONTROL DE ACCESO</a:t>
            </a:r>
            <a:endParaRPr b="0" i="0" sz="1250" u="none" cap="none" strike="noStrike">
              <a:solidFill>
                <a:schemeClr val="dk1"/>
              </a:solidFill>
              <a:latin typeface="Calibri"/>
              <a:ea typeface="Calibri"/>
              <a:cs typeface="Calibri"/>
              <a:sym typeface="Calibri"/>
            </a:endParaRPr>
          </a:p>
        </p:txBody>
      </p:sp>
      <p:sp>
        <p:nvSpPr>
          <p:cNvPr id="59" name="Google Shape;59;p3"/>
          <p:cNvSpPr/>
          <p:nvPr/>
        </p:nvSpPr>
        <p:spPr>
          <a:xfrm>
            <a:off x="640080" y="868680"/>
            <a:ext cx="10515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2700"/>
              <a:buFont typeface="Cambria"/>
              <a:buNone/>
            </a:pPr>
            <a:r>
              <a:rPr b="1" i="0" lang="en-US" sz="2700" u="none" cap="none" strike="noStrike">
                <a:solidFill>
                  <a:srgbClr val="36454F"/>
                </a:solidFill>
                <a:latin typeface="Cambria"/>
                <a:ea typeface="Cambria"/>
                <a:cs typeface="Cambria"/>
                <a:sym typeface="Cambria"/>
              </a:rPr>
              <a:t>Versión 1 — sin roles, claves en el código</a:t>
            </a:r>
            <a:endParaRPr b="0" i="0" sz="2700" u="none" cap="none" strike="noStrike">
              <a:solidFill>
                <a:schemeClr val="dk1"/>
              </a:solidFill>
              <a:latin typeface="Calibri"/>
              <a:ea typeface="Calibri"/>
              <a:cs typeface="Calibri"/>
              <a:sym typeface="Calibri"/>
            </a:endParaRPr>
          </a:p>
        </p:txBody>
      </p:sp>
      <p:sp>
        <p:nvSpPr>
          <p:cNvPr id="60" name="Google Shape;60;p3"/>
          <p:cNvSpPr/>
          <p:nvPr/>
        </p:nvSpPr>
        <p:spPr>
          <a:xfrm>
            <a:off x="640080" y="1691640"/>
            <a:ext cx="5852100" cy="2788800"/>
          </a:xfrm>
          <a:prstGeom prst="roundRect">
            <a:avLst>
              <a:gd fmla="val 2623" name="adj"/>
            </a:avLst>
          </a:prstGeom>
          <a:solidFill>
            <a:srgbClr val="FFFFFF"/>
          </a:solidFill>
          <a:ln cap="flat" cmpd="sng" w="19050">
            <a:solidFill>
              <a:srgbClr val="B9C0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61" name="Google Shape;61;p3"/>
          <p:cNvPicPr preferRelativeResize="0"/>
          <p:nvPr/>
        </p:nvPicPr>
        <p:blipFill rotWithShape="1">
          <a:blip r:embed="rId4">
            <a:alphaModFix/>
          </a:blip>
          <a:srcRect b="0" l="0" r="0" t="0"/>
          <a:stretch/>
        </p:blipFill>
        <p:spPr>
          <a:xfrm>
            <a:off x="841248" y="1874520"/>
            <a:ext cx="310896" cy="310896"/>
          </a:xfrm>
          <a:prstGeom prst="rect">
            <a:avLst/>
          </a:prstGeom>
          <a:noFill/>
          <a:ln>
            <a:noFill/>
          </a:ln>
        </p:spPr>
      </p:pic>
      <p:sp>
        <p:nvSpPr>
          <p:cNvPr id="62" name="Google Shape;62;p3"/>
          <p:cNvSpPr/>
          <p:nvPr/>
        </p:nvSpPr>
        <p:spPr>
          <a:xfrm>
            <a:off x="1234440" y="1847088"/>
            <a:ext cx="5029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ourier New"/>
              <a:buNone/>
            </a:pPr>
            <a:r>
              <a:rPr b="0" i="0" lang="en-US" sz="1250" u="none" cap="none" strike="noStrike">
                <a:solidFill>
                  <a:srgbClr val="6B7680"/>
                </a:solidFill>
                <a:latin typeface="Courier New"/>
                <a:ea typeface="Courier New"/>
                <a:cs typeface="Courier New"/>
                <a:sym typeface="Courier New"/>
              </a:rPr>
              <a:t>V.1.py — líneas 11-14</a:t>
            </a:r>
            <a:endParaRPr b="0" i="0" sz="1250" u="none" cap="none" strike="noStrike">
              <a:solidFill>
                <a:schemeClr val="dk1"/>
              </a:solidFill>
              <a:latin typeface="Calibri"/>
              <a:ea typeface="Calibri"/>
              <a:cs typeface="Calibri"/>
              <a:sym typeface="Calibri"/>
            </a:endParaRPr>
          </a:p>
        </p:txBody>
      </p:sp>
      <p:sp>
        <p:nvSpPr>
          <p:cNvPr id="63" name="Google Shape;63;p3"/>
          <p:cNvSpPr/>
          <p:nvPr/>
        </p:nvSpPr>
        <p:spPr>
          <a:xfrm>
            <a:off x="914400" y="2674620"/>
            <a:ext cx="53034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Espacio para captura de pantalla</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del código de la Versión 1</a:t>
            </a:r>
            <a:endParaRPr b="0" i="0" sz="1300" u="none" cap="none" strike="noStrike">
              <a:solidFill>
                <a:schemeClr val="dk1"/>
              </a:solidFill>
              <a:latin typeface="Calibri"/>
              <a:ea typeface="Calibri"/>
              <a:cs typeface="Calibri"/>
              <a:sym typeface="Calibri"/>
            </a:endParaRPr>
          </a:p>
        </p:txBody>
      </p:sp>
      <p:sp>
        <p:nvSpPr>
          <p:cNvPr id="64" name="Google Shape;64;p3"/>
          <p:cNvSpPr/>
          <p:nvPr/>
        </p:nvSpPr>
        <p:spPr>
          <a:xfrm>
            <a:off x="6720840" y="1691640"/>
            <a:ext cx="4800600" cy="1298400"/>
          </a:xfrm>
          <a:prstGeom prst="roundRect">
            <a:avLst>
              <a:gd fmla="val 5634" name="adj"/>
            </a:avLst>
          </a:prstGeom>
          <a:solidFill>
            <a:srgbClr val="FBEA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65" name="Google Shape;65;p3"/>
          <p:cNvPicPr preferRelativeResize="0"/>
          <p:nvPr/>
        </p:nvPicPr>
        <p:blipFill rotWithShape="1">
          <a:blip r:embed="rId5">
            <a:alphaModFix/>
          </a:blip>
          <a:srcRect b="0" l="0" r="0" t="0"/>
          <a:stretch/>
        </p:blipFill>
        <p:spPr>
          <a:xfrm>
            <a:off x="6922008" y="1828800"/>
            <a:ext cx="347472" cy="347472"/>
          </a:xfrm>
          <a:prstGeom prst="rect">
            <a:avLst/>
          </a:prstGeom>
          <a:noFill/>
          <a:ln>
            <a:noFill/>
          </a:ln>
        </p:spPr>
      </p:pic>
      <p:sp>
        <p:nvSpPr>
          <p:cNvPr id="66" name="Google Shape;66;p3"/>
          <p:cNvSpPr/>
          <p:nvPr/>
        </p:nvSpPr>
        <p:spPr>
          <a:xfrm>
            <a:off x="7406640" y="1783080"/>
            <a:ext cx="388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50"/>
              <a:buFont typeface="Cambria"/>
              <a:buNone/>
            </a:pPr>
            <a:r>
              <a:rPr b="1" i="0" lang="en-US" sz="1450" u="none" cap="none" strike="noStrike">
                <a:solidFill>
                  <a:srgbClr val="C0392B"/>
                </a:solidFill>
                <a:latin typeface="Cambria"/>
                <a:ea typeface="Cambria"/>
                <a:cs typeface="Cambria"/>
                <a:sym typeface="Cambria"/>
              </a:rPr>
              <a:t>Contraseñas en texto plano</a:t>
            </a:r>
            <a:endParaRPr b="0" i="0" sz="1450" u="none" cap="none" strike="noStrike">
              <a:solidFill>
                <a:schemeClr val="dk1"/>
              </a:solidFill>
              <a:latin typeface="Calibri"/>
              <a:ea typeface="Calibri"/>
              <a:cs typeface="Calibri"/>
              <a:sym typeface="Calibri"/>
            </a:endParaRPr>
          </a:p>
        </p:txBody>
      </p:sp>
      <p:sp>
        <p:nvSpPr>
          <p:cNvPr id="67" name="Google Shape;67;p3"/>
          <p:cNvSpPr/>
          <p:nvPr/>
        </p:nvSpPr>
        <p:spPr>
          <a:xfrm>
            <a:off x="6922008" y="2148840"/>
            <a:ext cx="43983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3A34"/>
              </a:buClr>
              <a:buSzPts val="1200"/>
              <a:buFont typeface="Calibri"/>
              <a:buNone/>
            </a:pPr>
            <a:r>
              <a:rPr b="0" i="0" lang="en-US" sz="1200" u="none" cap="none" strike="noStrike">
                <a:solidFill>
                  <a:srgbClr val="6E3A34"/>
                </a:solidFill>
                <a:latin typeface="Calibri"/>
                <a:ea typeface="Calibri"/>
                <a:cs typeface="Calibri"/>
                <a:sym typeface="Calibri"/>
              </a:rPr>
              <a:t>Las claves quedan escritas directamente en el código fuente. Quien acceda al archivo, tiene las claves.</a:t>
            </a:r>
            <a:endParaRPr b="0" i="0" sz="1200" u="none" cap="none" strike="noStrike">
              <a:solidFill>
                <a:schemeClr val="dk1"/>
              </a:solidFill>
              <a:latin typeface="Calibri"/>
              <a:ea typeface="Calibri"/>
              <a:cs typeface="Calibri"/>
              <a:sym typeface="Calibri"/>
            </a:endParaRPr>
          </a:p>
        </p:txBody>
      </p:sp>
      <p:sp>
        <p:nvSpPr>
          <p:cNvPr id="68" name="Google Shape;68;p3"/>
          <p:cNvSpPr/>
          <p:nvPr/>
        </p:nvSpPr>
        <p:spPr>
          <a:xfrm>
            <a:off x="6720840" y="3127248"/>
            <a:ext cx="4800600" cy="1353300"/>
          </a:xfrm>
          <a:prstGeom prst="roundRect">
            <a:avLst>
              <a:gd fmla="val 5405" name="adj"/>
            </a:avLst>
          </a:prstGeom>
          <a:solidFill>
            <a:srgbClr val="FBEA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69" name="Google Shape;69;p3"/>
          <p:cNvPicPr preferRelativeResize="0"/>
          <p:nvPr/>
        </p:nvPicPr>
        <p:blipFill rotWithShape="1">
          <a:blip r:embed="rId6">
            <a:alphaModFix/>
          </a:blip>
          <a:srcRect b="0" l="0" r="0" t="0"/>
          <a:stretch/>
        </p:blipFill>
        <p:spPr>
          <a:xfrm>
            <a:off x="6922008" y="3264408"/>
            <a:ext cx="347472" cy="347472"/>
          </a:xfrm>
          <a:prstGeom prst="rect">
            <a:avLst/>
          </a:prstGeom>
          <a:noFill/>
          <a:ln>
            <a:noFill/>
          </a:ln>
        </p:spPr>
      </p:pic>
      <p:sp>
        <p:nvSpPr>
          <p:cNvPr id="70" name="Google Shape;70;p3"/>
          <p:cNvSpPr/>
          <p:nvPr/>
        </p:nvSpPr>
        <p:spPr>
          <a:xfrm>
            <a:off x="7406640" y="3218688"/>
            <a:ext cx="388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50"/>
              <a:buFont typeface="Cambria"/>
              <a:buNone/>
            </a:pPr>
            <a:r>
              <a:rPr b="1" i="0" lang="en-US" sz="1450" u="none" cap="none" strike="noStrike">
                <a:solidFill>
                  <a:srgbClr val="C0392B"/>
                </a:solidFill>
                <a:latin typeface="Cambria"/>
                <a:ea typeface="Cambria"/>
                <a:cs typeface="Cambria"/>
                <a:sym typeface="Cambria"/>
              </a:rPr>
              <a:t>No existe ningún rol</a:t>
            </a:r>
            <a:endParaRPr b="0" i="0" sz="1450" u="none" cap="none" strike="noStrike">
              <a:solidFill>
                <a:schemeClr val="dk1"/>
              </a:solidFill>
              <a:latin typeface="Calibri"/>
              <a:ea typeface="Calibri"/>
              <a:cs typeface="Calibri"/>
              <a:sym typeface="Calibri"/>
            </a:endParaRPr>
          </a:p>
        </p:txBody>
      </p:sp>
      <p:sp>
        <p:nvSpPr>
          <p:cNvPr id="71" name="Google Shape;71;p3"/>
          <p:cNvSpPr/>
          <p:nvPr/>
        </p:nvSpPr>
        <p:spPr>
          <a:xfrm>
            <a:off x="6922008" y="3584448"/>
            <a:ext cx="43983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3A34"/>
              </a:buClr>
              <a:buSzPts val="1200"/>
              <a:buFont typeface="Calibri"/>
              <a:buNone/>
            </a:pPr>
            <a:r>
              <a:rPr b="0" i="0" lang="en-US" sz="1200" u="none" cap="none" strike="noStrike">
                <a:solidFill>
                  <a:srgbClr val="6E3A34"/>
                </a:solidFill>
                <a:latin typeface="Calibri"/>
                <a:ea typeface="Calibri"/>
                <a:cs typeface="Calibri"/>
                <a:sym typeface="Calibri"/>
              </a:rPr>
              <a:t>Cualquiera que entra tiene acceso total, incluyendo editar precios. Rompe el principio de mínimo privilegio.</a:t>
            </a:r>
            <a:endParaRPr b="0" i="0" sz="1200" u="none" cap="none" strike="noStrike">
              <a:solidFill>
                <a:schemeClr val="dk1"/>
              </a:solidFill>
              <a:latin typeface="Calibri"/>
              <a:ea typeface="Calibri"/>
              <a:cs typeface="Calibri"/>
              <a:sym typeface="Calibri"/>
            </a:endParaRPr>
          </a:p>
        </p:txBody>
      </p:sp>
      <p:sp>
        <p:nvSpPr>
          <p:cNvPr id="72" name="Google Shape;72;p3"/>
          <p:cNvSpPr/>
          <p:nvPr/>
        </p:nvSpPr>
        <p:spPr>
          <a:xfrm>
            <a:off x="640080" y="4709160"/>
            <a:ext cx="10881300" cy="18300"/>
          </a:xfrm>
          <a:prstGeom prst="rect">
            <a:avLst/>
          </a:prstGeom>
          <a:solidFill>
            <a:srgbClr val="E4E7EA"/>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73" name="Google Shape;73;p3"/>
          <p:cNvSpPr/>
          <p:nvPr/>
        </p:nvSpPr>
        <p:spPr>
          <a:xfrm>
            <a:off x="640080" y="4892040"/>
            <a:ext cx="5852100" cy="1417200"/>
          </a:xfrm>
          <a:prstGeom prst="rect">
            <a:avLst/>
          </a:prstGeom>
          <a:solidFill>
            <a:srgbClr val="F2F2F2"/>
          </a:solidFill>
          <a:ln>
            <a:noFill/>
          </a:ln>
        </p:spPr>
        <p:txBody>
          <a:bodyPr anchorCtr="0" anchor="ctr" bIns="101600" lIns="101600" spcFirstLastPara="1" rIns="101600" wrap="square" tIns="101600">
            <a:noAutofit/>
          </a:bodyPr>
          <a:lstStyle/>
          <a:p>
            <a:pPr indent="0" lvl="0" marL="0" marR="0" rtl="0" algn="l">
              <a:spcBef>
                <a:spcPts val="0"/>
              </a:spcBef>
              <a:spcAft>
                <a:spcPts val="0"/>
              </a:spcAft>
              <a:buClr>
                <a:srgbClr val="36454F"/>
              </a:buClr>
              <a:buSzPts val="1250"/>
              <a:buFont typeface="Courier New"/>
              <a:buNone/>
            </a:pPr>
            <a:r>
              <a:rPr b="0" i="0" lang="en-US" sz="1250" u="none" cap="none" strike="noStrike">
                <a:solidFill>
                  <a:srgbClr val="36454F"/>
                </a:solidFill>
                <a:latin typeface="Courier New"/>
                <a:ea typeface="Courier New"/>
                <a:cs typeface="Courier New"/>
                <a:sym typeface="Courier New"/>
              </a:rPr>
              <a:t>usuarios = [</a:t>
            </a:r>
            <a:br>
              <a:rPr b="0" i="0" lang="en-US" sz="1250" u="none" cap="none" strike="noStrike">
                <a:solidFill>
                  <a:srgbClr val="36454F"/>
                </a:solidFill>
                <a:latin typeface="Courier New"/>
                <a:ea typeface="Courier New"/>
                <a:cs typeface="Courier New"/>
                <a:sym typeface="Courier New"/>
              </a:rPr>
            </a:b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6454F"/>
              </a:buClr>
              <a:buSzPts val="1250"/>
              <a:buFont typeface="Courier New"/>
              <a:buNone/>
            </a:pPr>
            <a:r>
              <a:rPr b="0" i="0" lang="en-US" sz="1250" u="none" cap="none" strike="noStrike">
                <a:solidFill>
                  <a:srgbClr val="36454F"/>
                </a:solidFill>
                <a:latin typeface="Courier New"/>
                <a:ea typeface="Courier New"/>
                <a:cs typeface="Courier New"/>
                <a:sym typeface="Courier New"/>
              </a:rPr>
              <a:t>    {'root': '123'},</a:t>
            </a:r>
            <a:br>
              <a:rPr b="0" i="0" lang="en-US" sz="1250" u="none" cap="none" strike="noStrike">
                <a:solidFill>
                  <a:srgbClr val="36454F"/>
                </a:solidFill>
                <a:latin typeface="Courier New"/>
                <a:ea typeface="Courier New"/>
                <a:cs typeface="Courier New"/>
                <a:sym typeface="Courier New"/>
              </a:rPr>
            </a:b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6454F"/>
              </a:buClr>
              <a:buSzPts val="1250"/>
              <a:buFont typeface="Courier New"/>
              <a:buNone/>
            </a:pPr>
            <a:r>
              <a:rPr b="0" i="0" lang="en-US" sz="1250" u="none" cap="none" strike="noStrike">
                <a:solidFill>
                  <a:srgbClr val="36454F"/>
                </a:solidFill>
                <a:latin typeface="Courier New"/>
                <a:ea typeface="Courier New"/>
                <a:cs typeface="Courier New"/>
                <a:sym typeface="Courier New"/>
              </a:rPr>
              <a:t>    {'admin': 'funeraria2026'}</a:t>
            </a:r>
            <a:br>
              <a:rPr b="0" i="0" lang="en-US" sz="1250" u="none" cap="none" strike="noStrike">
                <a:solidFill>
                  <a:srgbClr val="36454F"/>
                </a:solidFill>
                <a:latin typeface="Courier New"/>
                <a:ea typeface="Courier New"/>
                <a:cs typeface="Courier New"/>
                <a:sym typeface="Courier New"/>
              </a:rPr>
            </a:b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6454F"/>
              </a:buClr>
              <a:buSzPts val="1250"/>
              <a:buFont typeface="Courier New"/>
              <a:buNone/>
            </a:pPr>
            <a:r>
              <a:rPr b="0" i="0" lang="en-US" sz="1250" u="none" cap="none" strike="noStrike">
                <a:solidFill>
                  <a:srgbClr val="36454F"/>
                </a:solidFill>
                <a:latin typeface="Courier New"/>
                <a:ea typeface="Courier New"/>
                <a:cs typeface="Courier New"/>
                <a:sym typeface="Courier New"/>
              </a:rPr>
              <a:t>]</a:t>
            </a:r>
            <a:endParaRPr b="0" i="0" sz="1250" u="none" cap="none" strike="noStrike">
              <a:solidFill>
                <a:schemeClr val="dk1"/>
              </a:solidFill>
              <a:latin typeface="Calibri"/>
              <a:ea typeface="Calibri"/>
              <a:cs typeface="Calibri"/>
              <a:sym typeface="Calibri"/>
            </a:endParaRPr>
          </a:p>
        </p:txBody>
      </p:sp>
      <p:sp>
        <p:nvSpPr>
          <p:cNvPr id="74" name="Google Shape;74;p3"/>
          <p:cNvSpPr/>
          <p:nvPr/>
        </p:nvSpPr>
        <p:spPr>
          <a:xfrm>
            <a:off x="6720840" y="4937760"/>
            <a:ext cx="4800600" cy="12801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680"/>
              </a:buClr>
              <a:buSzPts val="1250"/>
              <a:buFont typeface="Calibri"/>
              <a:buNone/>
            </a:pPr>
            <a:r>
              <a:rPr b="0" i="1" lang="en-US" sz="1250" u="none" cap="none" strike="noStrike">
                <a:solidFill>
                  <a:srgbClr val="6B7680"/>
                </a:solidFill>
                <a:latin typeface="Calibri"/>
                <a:ea typeface="Calibri"/>
                <a:cs typeface="Calibri"/>
                <a:sym typeface="Calibri"/>
              </a:rPr>
              <a:t>Principio de mínimo privilegio: cada usuario debería tener solo los permisos que necesita para su función, ni uno más.</a:t>
            </a:r>
            <a:endParaRPr b="0" i="0" sz="1250" u="none" cap="none" strike="noStrike">
              <a:solidFill>
                <a:schemeClr val="dk1"/>
              </a:solidFill>
              <a:latin typeface="Calibri"/>
              <a:ea typeface="Calibri"/>
              <a:cs typeface="Calibri"/>
              <a:sym typeface="Calibri"/>
            </a:endParaRPr>
          </a:p>
        </p:txBody>
      </p:sp>
      <p:sp>
        <p:nvSpPr>
          <p:cNvPr id="75" name="Google Shape;75;p3"/>
          <p:cNvSpPr/>
          <p:nvPr/>
        </p:nvSpPr>
        <p:spPr>
          <a:xfrm>
            <a:off x="457200" y="6473952"/>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Sistema de Gestión Funeraria · Introducción a la Programación Segura</a:t>
            </a:r>
            <a:endParaRPr b="0" i="0" sz="950" u="none" cap="none" strike="noStrike">
              <a:solidFill>
                <a:schemeClr val="dk1"/>
              </a:solidFill>
              <a:latin typeface="Calibri"/>
              <a:ea typeface="Calibri"/>
              <a:cs typeface="Calibri"/>
              <a:sym typeface="Calibri"/>
            </a:endParaRPr>
          </a:p>
        </p:txBody>
      </p:sp>
      <p:sp>
        <p:nvSpPr>
          <p:cNvPr id="76" name="Google Shape;76;p3"/>
          <p:cNvSpPr/>
          <p:nvPr/>
        </p:nvSpPr>
        <p:spPr>
          <a:xfrm>
            <a:off x="10362895" y="6473952"/>
            <a:ext cx="1371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3</a:t>
            </a:r>
            <a:endParaRPr b="0" i="0" sz="950" u="none" cap="none" strike="noStrike">
              <a:solidFill>
                <a:schemeClr val="dk1"/>
              </a:solidFill>
              <a:latin typeface="Calibri"/>
              <a:ea typeface="Calibri"/>
              <a:cs typeface="Calibri"/>
              <a:sym typeface="Calibri"/>
            </a:endParaRPr>
          </a:p>
        </p:txBody>
      </p:sp>
      <p:pic>
        <p:nvPicPr>
          <p:cNvPr id="77" name="Google Shape;77;p3"/>
          <p:cNvPicPr preferRelativeResize="0"/>
          <p:nvPr/>
        </p:nvPicPr>
        <p:blipFill rotWithShape="1">
          <a:blip r:embed="rId7">
            <a:alphaModFix/>
          </a:blip>
          <a:srcRect b="0" l="0" r="0" t="0"/>
          <a:stretch/>
        </p:blipFill>
        <p:spPr>
          <a:xfrm>
            <a:off x="548650" y="1600200"/>
            <a:ext cx="6035050" cy="28803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 name="Shape 82"/>
        <p:cNvGrpSpPr/>
        <p:nvPr/>
      </p:nvGrpSpPr>
      <p:grpSpPr>
        <a:xfrm>
          <a:off x="0" y="0"/>
          <a:ext cx="0" cy="0"/>
          <a:chOff x="0" y="0"/>
          <a:chExt cx="0" cy="0"/>
        </a:xfrm>
      </p:grpSpPr>
      <p:sp>
        <p:nvSpPr>
          <p:cNvPr id="83" name="Google Shape;83;p4"/>
          <p:cNvSpPr/>
          <p:nvPr/>
        </p:nvSpPr>
        <p:spPr>
          <a:xfrm>
            <a:off x="-914400" y="-914400"/>
            <a:ext cx="2194500" cy="2194500"/>
          </a:xfrm>
          <a:prstGeom prst="ellipse">
            <a:avLst/>
          </a:prstGeom>
          <a:solidFill>
            <a:srgbClr val="E6F4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84" name="Google Shape;84;p4"/>
          <p:cNvPicPr preferRelativeResize="0"/>
          <p:nvPr/>
        </p:nvPicPr>
        <p:blipFill rotWithShape="1">
          <a:blip r:embed="rId3">
            <a:alphaModFix/>
          </a:blip>
          <a:srcRect b="0" l="0" r="0" t="0"/>
          <a:stretch/>
        </p:blipFill>
        <p:spPr>
          <a:xfrm>
            <a:off x="640080" y="457200"/>
            <a:ext cx="384048" cy="384048"/>
          </a:xfrm>
          <a:prstGeom prst="rect">
            <a:avLst/>
          </a:prstGeom>
          <a:noFill/>
          <a:ln>
            <a:noFill/>
          </a:ln>
        </p:spPr>
      </p:pic>
      <p:sp>
        <p:nvSpPr>
          <p:cNvPr id="85" name="Google Shape;85;p4"/>
          <p:cNvSpPr/>
          <p:nvPr/>
        </p:nvSpPr>
        <p:spPr>
          <a:xfrm>
            <a:off x="1143000" y="475488"/>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alibri"/>
              <a:buNone/>
            </a:pPr>
            <a:r>
              <a:rPr b="1" i="0" lang="en-US" sz="1250" u="none" cap="none" strike="noStrike">
                <a:solidFill>
                  <a:srgbClr val="6B7680"/>
                </a:solidFill>
                <a:latin typeface="Calibri"/>
                <a:ea typeface="Calibri"/>
                <a:cs typeface="Calibri"/>
                <a:sym typeface="Calibri"/>
              </a:rPr>
              <a:t>BLOQUE 1 · LOGIN Y CONTROL DE ACCESO</a:t>
            </a:r>
            <a:endParaRPr b="0" i="0" sz="1250" u="none" cap="none" strike="noStrike">
              <a:solidFill>
                <a:schemeClr val="dk1"/>
              </a:solidFill>
              <a:latin typeface="Calibri"/>
              <a:ea typeface="Calibri"/>
              <a:cs typeface="Calibri"/>
              <a:sym typeface="Calibri"/>
            </a:endParaRPr>
          </a:p>
        </p:txBody>
      </p:sp>
      <p:sp>
        <p:nvSpPr>
          <p:cNvPr id="86" name="Google Shape;86;p4"/>
          <p:cNvSpPr/>
          <p:nvPr/>
        </p:nvSpPr>
        <p:spPr>
          <a:xfrm>
            <a:off x="640080" y="868680"/>
            <a:ext cx="10515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2700"/>
              <a:buFont typeface="Cambria"/>
              <a:buNone/>
            </a:pPr>
            <a:r>
              <a:rPr b="1" i="0" lang="en-US" sz="2700" u="none" cap="none" strike="noStrike">
                <a:solidFill>
                  <a:srgbClr val="36454F"/>
                </a:solidFill>
                <a:latin typeface="Cambria"/>
                <a:ea typeface="Cambria"/>
                <a:cs typeface="Cambria"/>
                <a:sym typeface="Cambria"/>
              </a:rPr>
              <a:t>Versión 2 — control de acceso por roles (RBAC)</a:t>
            </a:r>
            <a:endParaRPr b="0" i="0" sz="2700" u="none" cap="none" strike="noStrike">
              <a:solidFill>
                <a:schemeClr val="dk1"/>
              </a:solidFill>
              <a:latin typeface="Calibri"/>
              <a:ea typeface="Calibri"/>
              <a:cs typeface="Calibri"/>
              <a:sym typeface="Calibri"/>
            </a:endParaRPr>
          </a:p>
        </p:txBody>
      </p:sp>
      <p:sp>
        <p:nvSpPr>
          <p:cNvPr id="87" name="Google Shape;87;p4"/>
          <p:cNvSpPr/>
          <p:nvPr/>
        </p:nvSpPr>
        <p:spPr>
          <a:xfrm>
            <a:off x="640080" y="1691640"/>
            <a:ext cx="5852100" cy="1965900"/>
          </a:xfrm>
          <a:prstGeom prst="roundRect">
            <a:avLst>
              <a:gd fmla="val 3721" name="adj"/>
            </a:avLst>
          </a:prstGeom>
          <a:solidFill>
            <a:srgbClr val="FFFFFF"/>
          </a:solidFill>
          <a:ln cap="flat" cmpd="sng" w="19050">
            <a:solidFill>
              <a:srgbClr val="B9C0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88" name="Google Shape;88;p4"/>
          <p:cNvPicPr preferRelativeResize="0"/>
          <p:nvPr/>
        </p:nvPicPr>
        <p:blipFill rotWithShape="1">
          <a:blip r:embed="rId4">
            <a:alphaModFix/>
          </a:blip>
          <a:srcRect b="0" l="0" r="0" t="0"/>
          <a:stretch/>
        </p:blipFill>
        <p:spPr>
          <a:xfrm>
            <a:off x="841248" y="1874520"/>
            <a:ext cx="310896" cy="310896"/>
          </a:xfrm>
          <a:prstGeom prst="rect">
            <a:avLst/>
          </a:prstGeom>
          <a:noFill/>
          <a:ln>
            <a:noFill/>
          </a:ln>
        </p:spPr>
      </p:pic>
      <p:sp>
        <p:nvSpPr>
          <p:cNvPr id="89" name="Google Shape;89;p4"/>
          <p:cNvSpPr/>
          <p:nvPr/>
        </p:nvSpPr>
        <p:spPr>
          <a:xfrm>
            <a:off x="1234440" y="1847088"/>
            <a:ext cx="5029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ourier New"/>
              <a:buNone/>
            </a:pPr>
            <a:r>
              <a:rPr b="0" i="0" lang="en-US" sz="1250" u="none" cap="none" strike="noStrike">
                <a:solidFill>
                  <a:srgbClr val="6B7680"/>
                </a:solidFill>
                <a:latin typeface="Courier New"/>
                <a:ea typeface="Courier New"/>
                <a:cs typeface="Courier New"/>
                <a:sym typeface="Courier New"/>
              </a:rPr>
              <a:t>V.2.py — líneas 5-8</a:t>
            </a:r>
            <a:endParaRPr b="0" i="0" sz="1250" u="none" cap="none" strike="noStrike">
              <a:solidFill>
                <a:schemeClr val="dk1"/>
              </a:solidFill>
              <a:latin typeface="Calibri"/>
              <a:ea typeface="Calibri"/>
              <a:cs typeface="Calibri"/>
              <a:sym typeface="Calibri"/>
            </a:endParaRPr>
          </a:p>
        </p:txBody>
      </p:sp>
      <p:sp>
        <p:nvSpPr>
          <p:cNvPr id="90" name="Google Shape;90;p4"/>
          <p:cNvSpPr/>
          <p:nvPr/>
        </p:nvSpPr>
        <p:spPr>
          <a:xfrm>
            <a:off x="914400" y="2263140"/>
            <a:ext cx="53034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Espacio para captura: definición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de usuarios con campo 'rol'</a:t>
            </a:r>
            <a:endParaRPr b="0" i="0" sz="1300" u="none" cap="none" strike="noStrike">
              <a:solidFill>
                <a:schemeClr val="dk1"/>
              </a:solidFill>
              <a:latin typeface="Calibri"/>
              <a:ea typeface="Calibri"/>
              <a:cs typeface="Calibri"/>
              <a:sym typeface="Calibri"/>
            </a:endParaRPr>
          </a:p>
        </p:txBody>
      </p:sp>
      <p:sp>
        <p:nvSpPr>
          <p:cNvPr id="91" name="Google Shape;91;p4"/>
          <p:cNvSpPr/>
          <p:nvPr/>
        </p:nvSpPr>
        <p:spPr>
          <a:xfrm>
            <a:off x="640080" y="3794760"/>
            <a:ext cx="5852100" cy="1965900"/>
          </a:xfrm>
          <a:prstGeom prst="roundRect">
            <a:avLst>
              <a:gd fmla="val 3721" name="adj"/>
            </a:avLst>
          </a:prstGeom>
          <a:solidFill>
            <a:srgbClr val="FFFFFF"/>
          </a:solidFill>
          <a:ln cap="flat" cmpd="sng" w="19050">
            <a:solidFill>
              <a:srgbClr val="B9C0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92" name="Google Shape;92;p4"/>
          <p:cNvPicPr preferRelativeResize="0"/>
          <p:nvPr/>
        </p:nvPicPr>
        <p:blipFill rotWithShape="1">
          <a:blip r:embed="rId4">
            <a:alphaModFix/>
          </a:blip>
          <a:srcRect b="0" l="0" r="0" t="0"/>
          <a:stretch/>
        </p:blipFill>
        <p:spPr>
          <a:xfrm>
            <a:off x="841248" y="3977640"/>
            <a:ext cx="310896" cy="310896"/>
          </a:xfrm>
          <a:prstGeom prst="rect">
            <a:avLst/>
          </a:prstGeom>
          <a:noFill/>
          <a:ln>
            <a:noFill/>
          </a:ln>
        </p:spPr>
      </p:pic>
      <p:sp>
        <p:nvSpPr>
          <p:cNvPr id="93" name="Google Shape;93;p4"/>
          <p:cNvSpPr/>
          <p:nvPr/>
        </p:nvSpPr>
        <p:spPr>
          <a:xfrm>
            <a:off x="1234440" y="3950208"/>
            <a:ext cx="5029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ourier New"/>
              <a:buNone/>
            </a:pPr>
            <a:r>
              <a:rPr b="0" i="0" lang="en-US" sz="1250" u="none" cap="none" strike="noStrike">
                <a:solidFill>
                  <a:srgbClr val="6B7680"/>
                </a:solidFill>
                <a:latin typeface="Courier New"/>
                <a:ea typeface="Courier New"/>
                <a:cs typeface="Courier New"/>
                <a:sym typeface="Courier New"/>
              </a:rPr>
              <a:t>funciones_funeraria.py — líneas 100-103</a:t>
            </a:r>
            <a:endParaRPr b="0" i="0" sz="1250" u="none" cap="none" strike="noStrike">
              <a:solidFill>
                <a:schemeClr val="dk1"/>
              </a:solidFill>
              <a:latin typeface="Calibri"/>
              <a:ea typeface="Calibri"/>
              <a:cs typeface="Calibri"/>
              <a:sym typeface="Calibri"/>
            </a:endParaRPr>
          </a:p>
        </p:txBody>
      </p:sp>
      <p:sp>
        <p:nvSpPr>
          <p:cNvPr id="94" name="Google Shape;94;p4"/>
          <p:cNvSpPr/>
          <p:nvPr/>
        </p:nvSpPr>
        <p:spPr>
          <a:xfrm>
            <a:off x="914400" y="4366260"/>
            <a:ext cx="53034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Espacio para captura: validación</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de rol en editarPrecio()</a:t>
            </a:r>
            <a:endParaRPr b="0" i="0" sz="1300" u="none" cap="none" strike="noStrike">
              <a:solidFill>
                <a:schemeClr val="dk1"/>
              </a:solidFill>
              <a:latin typeface="Calibri"/>
              <a:ea typeface="Calibri"/>
              <a:cs typeface="Calibri"/>
              <a:sym typeface="Calibri"/>
            </a:endParaRPr>
          </a:p>
        </p:txBody>
      </p:sp>
      <p:sp>
        <p:nvSpPr>
          <p:cNvPr id="95" name="Google Shape;95;p4"/>
          <p:cNvSpPr/>
          <p:nvPr/>
        </p:nvSpPr>
        <p:spPr>
          <a:xfrm>
            <a:off x="6720840" y="1691640"/>
            <a:ext cx="4800600" cy="1371600"/>
          </a:xfrm>
          <a:prstGeom prst="roundRect">
            <a:avLst>
              <a:gd fmla="val 5333" name="adj"/>
            </a:avLst>
          </a:prstGeom>
          <a:solidFill>
            <a:srgbClr val="E6F4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96" name="Google Shape;96;p4"/>
          <p:cNvPicPr preferRelativeResize="0"/>
          <p:nvPr/>
        </p:nvPicPr>
        <p:blipFill rotWithShape="1">
          <a:blip r:embed="rId5">
            <a:alphaModFix/>
          </a:blip>
          <a:srcRect b="0" l="0" r="0" t="0"/>
          <a:stretch/>
        </p:blipFill>
        <p:spPr>
          <a:xfrm>
            <a:off x="6922008" y="1828800"/>
            <a:ext cx="347472" cy="347472"/>
          </a:xfrm>
          <a:prstGeom prst="rect">
            <a:avLst/>
          </a:prstGeom>
          <a:noFill/>
          <a:ln>
            <a:noFill/>
          </a:ln>
        </p:spPr>
      </p:pic>
      <p:sp>
        <p:nvSpPr>
          <p:cNvPr id="97" name="Google Shape;97;p4"/>
          <p:cNvSpPr/>
          <p:nvPr/>
        </p:nvSpPr>
        <p:spPr>
          <a:xfrm>
            <a:off x="7406640" y="1783080"/>
            <a:ext cx="388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74"/>
              </a:buClr>
              <a:buSzPts val="1450"/>
              <a:buFont typeface="Cambria"/>
              <a:buNone/>
            </a:pPr>
            <a:r>
              <a:rPr b="1" i="0" lang="en-US" sz="1450" u="none" cap="none" strike="noStrike">
                <a:solidFill>
                  <a:srgbClr val="0E8C74"/>
                </a:solidFill>
                <a:latin typeface="Cambria"/>
                <a:ea typeface="Cambria"/>
                <a:cs typeface="Cambria"/>
                <a:sym typeface="Cambria"/>
              </a:rPr>
              <a:t>Cada usuario tiene un rol</a:t>
            </a:r>
            <a:endParaRPr b="0" i="0" sz="1450" u="none" cap="none" strike="noStrike">
              <a:solidFill>
                <a:schemeClr val="dk1"/>
              </a:solidFill>
              <a:latin typeface="Calibri"/>
              <a:ea typeface="Calibri"/>
              <a:cs typeface="Calibri"/>
              <a:sym typeface="Calibri"/>
            </a:endParaRPr>
          </a:p>
        </p:txBody>
      </p:sp>
      <p:sp>
        <p:nvSpPr>
          <p:cNvPr id="98" name="Google Shape;98;p4"/>
          <p:cNvSpPr/>
          <p:nvPr/>
        </p:nvSpPr>
        <p:spPr>
          <a:xfrm>
            <a:off x="6922008" y="2148840"/>
            <a:ext cx="43983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B41"/>
              </a:buClr>
              <a:buSzPts val="1200"/>
              <a:buFont typeface="Calibri"/>
              <a:buNone/>
            </a:pPr>
            <a:r>
              <a:rPr b="0" i="0" lang="en-US" sz="1200" u="none" cap="none" strike="noStrike">
                <a:solidFill>
                  <a:srgbClr val="1B4B41"/>
                </a:solidFill>
                <a:latin typeface="Calibri"/>
                <a:ea typeface="Calibri"/>
                <a:cs typeface="Calibri"/>
                <a:sym typeface="Calibri"/>
              </a:rPr>
              <a:t>'jefe' o 'cliente'. El rol se guarda al hacer login y se pasa como parámetro a las funciones sensibles.</a:t>
            </a:r>
            <a:endParaRPr b="0" i="0" sz="1200" u="none" cap="none" strike="noStrike">
              <a:solidFill>
                <a:schemeClr val="dk1"/>
              </a:solidFill>
              <a:latin typeface="Calibri"/>
              <a:ea typeface="Calibri"/>
              <a:cs typeface="Calibri"/>
              <a:sym typeface="Calibri"/>
            </a:endParaRPr>
          </a:p>
        </p:txBody>
      </p:sp>
      <p:sp>
        <p:nvSpPr>
          <p:cNvPr id="99" name="Google Shape;99;p4"/>
          <p:cNvSpPr/>
          <p:nvPr/>
        </p:nvSpPr>
        <p:spPr>
          <a:xfrm>
            <a:off x="6720840" y="3246120"/>
            <a:ext cx="4800600" cy="1371600"/>
          </a:xfrm>
          <a:prstGeom prst="roundRect">
            <a:avLst>
              <a:gd fmla="val 5333" name="adj"/>
            </a:avLst>
          </a:prstGeom>
          <a:solidFill>
            <a:srgbClr val="E6F4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00" name="Google Shape;100;p4"/>
          <p:cNvPicPr preferRelativeResize="0"/>
          <p:nvPr/>
        </p:nvPicPr>
        <p:blipFill rotWithShape="1">
          <a:blip r:embed="rId6">
            <a:alphaModFix/>
          </a:blip>
          <a:srcRect b="0" l="0" r="0" t="0"/>
          <a:stretch/>
        </p:blipFill>
        <p:spPr>
          <a:xfrm>
            <a:off x="6922008" y="3383280"/>
            <a:ext cx="347472" cy="347472"/>
          </a:xfrm>
          <a:prstGeom prst="rect">
            <a:avLst/>
          </a:prstGeom>
          <a:noFill/>
          <a:ln>
            <a:noFill/>
          </a:ln>
        </p:spPr>
      </p:pic>
      <p:sp>
        <p:nvSpPr>
          <p:cNvPr id="101" name="Google Shape;101;p4"/>
          <p:cNvSpPr/>
          <p:nvPr/>
        </p:nvSpPr>
        <p:spPr>
          <a:xfrm>
            <a:off x="7406640" y="3337560"/>
            <a:ext cx="3886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74"/>
              </a:buClr>
              <a:buSzPts val="1450"/>
              <a:buFont typeface="Cambria"/>
              <a:buNone/>
            </a:pPr>
            <a:r>
              <a:rPr b="1" i="0" lang="en-US" sz="1450" u="none" cap="none" strike="noStrike">
                <a:solidFill>
                  <a:srgbClr val="0E8C74"/>
                </a:solidFill>
                <a:latin typeface="Cambria"/>
                <a:ea typeface="Cambria"/>
                <a:cs typeface="Cambria"/>
                <a:sym typeface="Cambria"/>
              </a:rPr>
              <a:t>Acceso denegado si no corresponde</a:t>
            </a:r>
            <a:endParaRPr b="0" i="0" sz="1450" u="none" cap="none" strike="noStrike">
              <a:solidFill>
                <a:schemeClr val="dk1"/>
              </a:solidFill>
              <a:latin typeface="Calibri"/>
              <a:ea typeface="Calibri"/>
              <a:cs typeface="Calibri"/>
              <a:sym typeface="Calibri"/>
            </a:endParaRPr>
          </a:p>
        </p:txBody>
      </p:sp>
      <p:sp>
        <p:nvSpPr>
          <p:cNvPr id="102" name="Google Shape;102;p4"/>
          <p:cNvSpPr/>
          <p:nvPr/>
        </p:nvSpPr>
        <p:spPr>
          <a:xfrm>
            <a:off x="6922008" y="3703320"/>
            <a:ext cx="43983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B41"/>
              </a:buClr>
              <a:buSzPts val="1200"/>
              <a:buFont typeface="Calibri"/>
              <a:buNone/>
            </a:pPr>
            <a:r>
              <a:rPr b="0" i="0" lang="en-US" sz="1200" u="none" cap="none" strike="noStrike">
                <a:solidFill>
                  <a:srgbClr val="1B4B41"/>
                </a:solidFill>
                <a:latin typeface="Calibri"/>
                <a:ea typeface="Calibri"/>
                <a:cs typeface="Calibri"/>
                <a:sym typeface="Calibri"/>
              </a:rPr>
              <a:t>Un cliente puede ver servicios y generar órdenes, pero editarPrecio() lo rechaza de inmediato.</a:t>
            </a:r>
            <a:endParaRPr b="0" i="0" sz="1200" u="none" cap="none" strike="noStrike">
              <a:solidFill>
                <a:schemeClr val="dk1"/>
              </a:solidFill>
              <a:latin typeface="Calibri"/>
              <a:ea typeface="Calibri"/>
              <a:cs typeface="Calibri"/>
              <a:sym typeface="Calibri"/>
            </a:endParaRPr>
          </a:p>
        </p:txBody>
      </p:sp>
      <p:sp>
        <p:nvSpPr>
          <p:cNvPr id="103" name="Google Shape;103;p4"/>
          <p:cNvSpPr/>
          <p:nvPr/>
        </p:nvSpPr>
        <p:spPr>
          <a:xfrm>
            <a:off x="6720840" y="4800600"/>
            <a:ext cx="4800600" cy="914400"/>
          </a:xfrm>
          <a:prstGeom prst="roundRect">
            <a:avLst>
              <a:gd fmla="val 8000" name="adj"/>
            </a:avLst>
          </a:prstGeom>
          <a:solidFill>
            <a:srgbClr val="F2F2F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04" name="Google Shape;104;p4"/>
          <p:cNvSpPr/>
          <p:nvPr/>
        </p:nvSpPr>
        <p:spPr>
          <a:xfrm>
            <a:off x="6949440" y="4892040"/>
            <a:ext cx="43434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150"/>
              <a:buFont typeface="Calibri"/>
              <a:buNone/>
            </a:pPr>
            <a:r>
              <a:rPr b="0" i="1" lang="en-US" sz="1150" u="none" cap="none" strike="noStrike">
                <a:solidFill>
                  <a:srgbClr val="6B7680"/>
                </a:solidFill>
                <a:latin typeface="Calibri"/>
                <a:ea typeface="Calibri"/>
                <a:cs typeface="Calibri"/>
                <a:sym typeface="Calibri"/>
              </a:rPr>
              <a:t>Pendiente para V.3: las contraseñas siguen en texto plano dentro del código; falta cifrarlas y sacar las credenciales del código fuente.</a:t>
            </a:r>
            <a:endParaRPr b="0" i="0" sz="1150" u="none" cap="none" strike="noStrike">
              <a:solidFill>
                <a:schemeClr val="dk1"/>
              </a:solidFill>
              <a:latin typeface="Calibri"/>
              <a:ea typeface="Calibri"/>
              <a:cs typeface="Calibri"/>
              <a:sym typeface="Calibri"/>
            </a:endParaRPr>
          </a:p>
        </p:txBody>
      </p:sp>
      <p:sp>
        <p:nvSpPr>
          <p:cNvPr id="105" name="Google Shape;105;p4"/>
          <p:cNvSpPr/>
          <p:nvPr/>
        </p:nvSpPr>
        <p:spPr>
          <a:xfrm>
            <a:off x="457200" y="6473952"/>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Sistema de Gestión Funeraria · Introducción a la Programación Segura</a:t>
            </a:r>
            <a:endParaRPr b="0" i="0" sz="950" u="none" cap="none" strike="noStrike">
              <a:solidFill>
                <a:schemeClr val="dk1"/>
              </a:solidFill>
              <a:latin typeface="Calibri"/>
              <a:ea typeface="Calibri"/>
              <a:cs typeface="Calibri"/>
              <a:sym typeface="Calibri"/>
            </a:endParaRPr>
          </a:p>
        </p:txBody>
      </p:sp>
      <p:sp>
        <p:nvSpPr>
          <p:cNvPr id="106" name="Google Shape;106;p4"/>
          <p:cNvSpPr/>
          <p:nvPr/>
        </p:nvSpPr>
        <p:spPr>
          <a:xfrm>
            <a:off x="10362895" y="6473952"/>
            <a:ext cx="1371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4</a:t>
            </a:r>
            <a:endParaRPr b="0" i="0" sz="950" u="none" cap="none" strike="noStrike">
              <a:solidFill>
                <a:schemeClr val="dk1"/>
              </a:solidFill>
              <a:latin typeface="Calibri"/>
              <a:ea typeface="Calibri"/>
              <a:cs typeface="Calibri"/>
              <a:sym typeface="Calibri"/>
            </a:endParaRPr>
          </a:p>
        </p:txBody>
      </p:sp>
      <p:pic>
        <p:nvPicPr>
          <p:cNvPr id="107" name="Google Shape;107;p4"/>
          <p:cNvPicPr preferRelativeResize="0"/>
          <p:nvPr/>
        </p:nvPicPr>
        <p:blipFill rotWithShape="1">
          <a:blip r:embed="rId7">
            <a:alphaModFix/>
          </a:blip>
          <a:srcRect b="0" l="0" r="0" t="0"/>
          <a:stretch/>
        </p:blipFill>
        <p:spPr>
          <a:xfrm>
            <a:off x="640075" y="1531625"/>
            <a:ext cx="5852175" cy="2194550"/>
          </a:xfrm>
          <a:prstGeom prst="rect">
            <a:avLst/>
          </a:prstGeom>
          <a:noFill/>
          <a:ln>
            <a:noFill/>
          </a:ln>
        </p:spPr>
      </p:pic>
      <p:pic>
        <p:nvPicPr>
          <p:cNvPr id="108" name="Google Shape;108;p4"/>
          <p:cNvPicPr preferRelativeResize="0"/>
          <p:nvPr/>
        </p:nvPicPr>
        <p:blipFill rotWithShape="1">
          <a:blip r:embed="rId8">
            <a:alphaModFix/>
          </a:blip>
          <a:srcRect b="0" l="0" r="0" t="0"/>
          <a:stretch/>
        </p:blipFill>
        <p:spPr>
          <a:xfrm>
            <a:off x="608250" y="3794750"/>
            <a:ext cx="5852175" cy="19659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5"/>
          <p:cNvSpPr/>
          <p:nvPr/>
        </p:nvSpPr>
        <p:spPr>
          <a:xfrm>
            <a:off x="-914400" y="-914400"/>
            <a:ext cx="2194500" cy="2194500"/>
          </a:xfrm>
          <a:prstGeom prst="ellipse">
            <a:avLst/>
          </a:prstGeom>
          <a:solidFill>
            <a:srgbClr val="FBEA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15" name="Google Shape;115;p5"/>
          <p:cNvPicPr preferRelativeResize="0"/>
          <p:nvPr/>
        </p:nvPicPr>
        <p:blipFill rotWithShape="1">
          <a:blip r:embed="rId3">
            <a:alphaModFix/>
          </a:blip>
          <a:srcRect b="0" l="0" r="0" t="0"/>
          <a:stretch/>
        </p:blipFill>
        <p:spPr>
          <a:xfrm>
            <a:off x="640080" y="457200"/>
            <a:ext cx="384048" cy="384048"/>
          </a:xfrm>
          <a:prstGeom prst="rect">
            <a:avLst/>
          </a:prstGeom>
          <a:noFill/>
          <a:ln>
            <a:noFill/>
          </a:ln>
        </p:spPr>
      </p:pic>
      <p:sp>
        <p:nvSpPr>
          <p:cNvPr id="116" name="Google Shape;116;p5"/>
          <p:cNvSpPr/>
          <p:nvPr/>
        </p:nvSpPr>
        <p:spPr>
          <a:xfrm>
            <a:off x="1143000" y="475488"/>
            <a:ext cx="8229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alibri"/>
              <a:buNone/>
            </a:pPr>
            <a:r>
              <a:rPr b="1" i="0" lang="en-US" sz="1250" u="none" cap="none" strike="noStrike">
                <a:solidFill>
                  <a:srgbClr val="6B7680"/>
                </a:solidFill>
                <a:latin typeface="Calibri"/>
                <a:ea typeface="Calibri"/>
                <a:cs typeface="Calibri"/>
                <a:sym typeface="Calibri"/>
              </a:rPr>
              <a:t>BLOQUE 2 · VALIDACIÓN Y SANEAMIENTO DE ENTRADAS</a:t>
            </a:r>
            <a:endParaRPr b="0" i="0" sz="1250" u="none" cap="none" strike="noStrike">
              <a:solidFill>
                <a:schemeClr val="dk1"/>
              </a:solidFill>
              <a:latin typeface="Calibri"/>
              <a:ea typeface="Calibri"/>
              <a:cs typeface="Calibri"/>
              <a:sym typeface="Calibri"/>
            </a:endParaRPr>
          </a:p>
        </p:txBody>
      </p:sp>
      <p:sp>
        <p:nvSpPr>
          <p:cNvPr id="117" name="Google Shape;117;p5"/>
          <p:cNvSpPr/>
          <p:nvPr/>
        </p:nvSpPr>
        <p:spPr>
          <a:xfrm>
            <a:off x="640080" y="868680"/>
            <a:ext cx="10515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2700"/>
              <a:buFont typeface="Cambria"/>
              <a:buNone/>
            </a:pPr>
            <a:r>
              <a:rPr b="1" i="0" lang="en-US" sz="2700" u="none" cap="none" strike="noStrike">
                <a:solidFill>
                  <a:srgbClr val="36454F"/>
                </a:solidFill>
                <a:latin typeface="Cambria"/>
                <a:ea typeface="Cambria"/>
                <a:cs typeface="Cambria"/>
                <a:sym typeface="Cambria"/>
              </a:rPr>
              <a:t>Versión 1 — validación mínima y duplicada</a:t>
            </a:r>
            <a:endParaRPr b="0" i="0" sz="2700" u="none" cap="none" strike="noStrike">
              <a:solidFill>
                <a:schemeClr val="dk1"/>
              </a:solidFill>
              <a:latin typeface="Calibri"/>
              <a:ea typeface="Calibri"/>
              <a:cs typeface="Calibri"/>
              <a:sym typeface="Calibri"/>
            </a:endParaRPr>
          </a:p>
        </p:txBody>
      </p:sp>
      <p:sp>
        <p:nvSpPr>
          <p:cNvPr id="118" name="Google Shape;118;p5"/>
          <p:cNvSpPr/>
          <p:nvPr/>
        </p:nvSpPr>
        <p:spPr>
          <a:xfrm>
            <a:off x="640080" y="1691640"/>
            <a:ext cx="5852100" cy="3017400"/>
          </a:xfrm>
          <a:prstGeom prst="roundRect">
            <a:avLst>
              <a:gd fmla="val 2424" name="adj"/>
            </a:avLst>
          </a:prstGeom>
          <a:solidFill>
            <a:srgbClr val="FFFFFF"/>
          </a:solidFill>
          <a:ln cap="flat" cmpd="sng" w="19050">
            <a:solidFill>
              <a:srgbClr val="B9C0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19" name="Google Shape;119;p5"/>
          <p:cNvPicPr preferRelativeResize="0"/>
          <p:nvPr/>
        </p:nvPicPr>
        <p:blipFill rotWithShape="1">
          <a:blip r:embed="rId4">
            <a:alphaModFix/>
          </a:blip>
          <a:srcRect b="0" l="0" r="0" t="0"/>
          <a:stretch/>
        </p:blipFill>
        <p:spPr>
          <a:xfrm>
            <a:off x="841248" y="1874520"/>
            <a:ext cx="310896" cy="310896"/>
          </a:xfrm>
          <a:prstGeom prst="rect">
            <a:avLst/>
          </a:prstGeom>
          <a:noFill/>
          <a:ln>
            <a:noFill/>
          </a:ln>
        </p:spPr>
      </p:pic>
      <p:sp>
        <p:nvSpPr>
          <p:cNvPr id="120" name="Google Shape;120;p5"/>
          <p:cNvSpPr/>
          <p:nvPr/>
        </p:nvSpPr>
        <p:spPr>
          <a:xfrm>
            <a:off x="1234440" y="1847088"/>
            <a:ext cx="5029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ourier New"/>
              <a:buNone/>
            </a:pPr>
            <a:r>
              <a:rPr b="0" i="0" lang="en-US" sz="1250" u="none" cap="none" strike="noStrike">
                <a:solidFill>
                  <a:srgbClr val="6B7680"/>
                </a:solidFill>
                <a:latin typeface="Courier New"/>
                <a:ea typeface="Courier New"/>
                <a:cs typeface="Courier New"/>
                <a:sym typeface="Courier New"/>
              </a:rPr>
              <a:t>V.1.py — líneas 141-142, 152-155</a:t>
            </a:r>
            <a:endParaRPr b="0" i="0" sz="1250" u="none" cap="none" strike="noStrike">
              <a:solidFill>
                <a:schemeClr val="dk1"/>
              </a:solidFill>
              <a:latin typeface="Calibri"/>
              <a:ea typeface="Calibri"/>
              <a:cs typeface="Calibri"/>
              <a:sym typeface="Calibri"/>
            </a:endParaRPr>
          </a:p>
        </p:txBody>
      </p:sp>
      <p:sp>
        <p:nvSpPr>
          <p:cNvPr id="121" name="Google Shape;121;p5"/>
          <p:cNvSpPr/>
          <p:nvPr/>
        </p:nvSpPr>
        <p:spPr>
          <a:xfrm>
            <a:off x="914400" y="2788920"/>
            <a:ext cx="53034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Espacio para captura de pantalla</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de la validación del nombre</a:t>
            </a:r>
            <a:endParaRPr b="0" i="0" sz="1300" u="none" cap="none" strike="noStrike">
              <a:solidFill>
                <a:schemeClr val="dk1"/>
              </a:solidFill>
              <a:latin typeface="Calibri"/>
              <a:ea typeface="Calibri"/>
              <a:cs typeface="Calibri"/>
              <a:sym typeface="Calibri"/>
            </a:endParaRPr>
          </a:p>
        </p:txBody>
      </p:sp>
      <p:pic>
        <p:nvPicPr>
          <p:cNvPr descr="preencoded.png" id="122" name="Google Shape;122;p5"/>
          <p:cNvPicPr preferRelativeResize="0"/>
          <p:nvPr/>
        </p:nvPicPr>
        <p:blipFill rotWithShape="1">
          <a:blip r:embed="rId5">
            <a:alphaModFix/>
          </a:blip>
          <a:srcRect b="0" l="0" r="0" t="0"/>
          <a:stretch/>
        </p:blipFill>
        <p:spPr>
          <a:xfrm>
            <a:off x="6720840" y="1709928"/>
            <a:ext cx="292608" cy="292608"/>
          </a:xfrm>
          <a:prstGeom prst="rect">
            <a:avLst/>
          </a:prstGeom>
          <a:noFill/>
          <a:ln>
            <a:noFill/>
          </a:ln>
        </p:spPr>
      </p:pic>
      <p:sp>
        <p:nvSpPr>
          <p:cNvPr id="123" name="Google Shape;123;p5"/>
          <p:cNvSpPr/>
          <p:nvPr/>
        </p:nvSpPr>
        <p:spPr>
          <a:xfrm>
            <a:off x="7132320" y="1645920"/>
            <a:ext cx="4389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00"/>
              <a:buFont typeface="Cambria"/>
              <a:buNone/>
            </a:pPr>
            <a:r>
              <a:rPr b="1" i="0" lang="en-US" sz="1400" u="none" cap="none" strike="noStrike">
                <a:solidFill>
                  <a:srgbClr val="C0392B"/>
                </a:solidFill>
                <a:latin typeface="Cambria"/>
                <a:ea typeface="Cambria"/>
                <a:cs typeface="Cambria"/>
                <a:sym typeface="Cambria"/>
              </a:rPr>
              <a:t>Solo bloquea números</a:t>
            </a:r>
            <a:endParaRPr b="0" i="0" sz="1400" u="none" cap="none" strike="noStrike">
              <a:solidFill>
                <a:schemeClr val="dk1"/>
              </a:solidFill>
              <a:latin typeface="Calibri"/>
              <a:ea typeface="Calibri"/>
              <a:cs typeface="Calibri"/>
              <a:sym typeface="Calibri"/>
            </a:endParaRPr>
          </a:p>
        </p:txBody>
      </p:sp>
      <p:sp>
        <p:nvSpPr>
          <p:cNvPr id="124" name="Google Shape;124;p5"/>
          <p:cNvSpPr/>
          <p:nvPr/>
        </p:nvSpPr>
        <p:spPr>
          <a:xfrm>
            <a:off x="7132320" y="1984248"/>
            <a:ext cx="4389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00"/>
              <a:buFont typeface="Calibri"/>
              <a:buNone/>
            </a:pPr>
            <a:r>
              <a:rPr b="0" i="0" lang="en-US" sz="1200" u="none" cap="none" strike="noStrike">
                <a:solidFill>
                  <a:srgbClr val="6B7680"/>
                </a:solidFill>
                <a:latin typeface="Calibri"/>
                <a:ea typeface="Calibri"/>
                <a:cs typeface="Calibri"/>
                <a:sym typeface="Calibri"/>
              </a:rPr>
              <a:t>No filtra símbolos como comillas, ; &lt; &gt; entre otros.</a:t>
            </a:r>
            <a:endParaRPr b="0" i="0" sz="1200" u="none" cap="none" strike="noStrike">
              <a:solidFill>
                <a:schemeClr val="dk1"/>
              </a:solidFill>
              <a:latin typeface="Calibri"/>
              <a:ea typeface="Calibri"/>
              <a:cs typeface="Calibri"/>
              <a:sym typeface="Calibri"/>
            </a:endParaRPr>
          </a:p>
        </p:txBody>
      </p:sp>
      <p:pic>
        <p:nvPicPr>
          <p:cNvPr descr="preencoded.png" id="125" name="Google Shape;125;p5"/>
          <p:cNvPicPr preferRelativeResize="0"/>
          <p:nvPr/>
        </p:nvPicPr>
        <p:blipFill rotWithShape="1">
          <a:blip r:embed="rId5">
            <a:alphaModFix/>
          </a:blip>
          <a:srcRect b="0" l="0" r="0" t="0"/>
          <a:stretch/>
        </p:blipFill>
        <p:spPr>
          <a:xfrm>
            <a:off x="6720840" y="2670048"/>
            <a:ext cx="292608" cy="292608"/>
          </a:xfrm>
          <a:prstGeom prst="rect">
            <a:avLst/>
          </a:prstGeom>
          <a:noFill/>
          <a:ln>
            <a:noFill/>
          </a:ln>
        </p:spPr>
      </p:pic>
      <p:sp>
        <p:nvSpPr>
          <p:cNvPr id="126" name="Google Shape;126;p5"/>
          <p:cNvSpPr/>
          <p:nvPr/>
        </p:nvSpPr>
        <p:spPr>
          <a:xfrm>
            <a:off x="7132320" y="2606040"/>
            <a:ext cx="4389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00"/>
              <a:buFont typeface="Cambria"/>
              <a:buNone/>
            </a:pPr>
            <a:r>
              <a:rPr b="1" i="0" lang="en-US" sz="1400" u="none" cap="none" strike="noStrike">
                <a:solidFill>
                  <a:srgbClr val="C0392B"/>
                </a:solidFill>
                <a:latin typeface="Cambria"/>
                <a:ea typeface="Cambria"/>
                <a:cs typeface="Cambria"/>
                <a:sym typeface="Cambria"/>
              </a:rPr>
              <a:t>Sin control de longitud</a:t>
            </a:r>
            <a:endParaRPr b="0" i="0" sz="1400" u="none" cap="none" strike="noStrike">
              <a:solidFill>
                <a:schemeClr val="dk1"/>
              </a:solidFill>
              <a:latin typeface="Calibri"/>
              <a:ea typeface="Calibri"/>
              <a:cs typeface="Calibri"/>
              <a:sym typeface="Calibri"/>
            </a:endParaRPr>
          </a:p>
        </p:txBody>
      </p:sp>
      <p:sp>
        <p:nvSpPr>
          <p:cNvPr id="127" name="Google Shape;127;p5"/>
          <p:cNvSpPr/>
          <p:nvPr/>
        </p:nvSpPr>
        <p:spPr>
          <a:xfrm>
            <a:off x="7132320" y="2944368"/>
            <a:ext cx="4389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00"/>
              <a:buFont typeface="Calibri"/>
              <a:buNone/>
            </a:pPr>
            <a:r>
              <a:rPr b="0" i="0" lang="en-US" sz="1200" u="none" cap="none" strike="noStrike">
                <a:solidFill>
                  <a:srgbClr val="6B7680"/>
                </a:solidFill>
                <a:latin typeface="Calibri"/>
                <a:ea typeface="Calibri"/>
                <a:cs typeface="Calibri"/>
                <a:sym typeface="Calibri"/>
              </a:rPr>
              <a:t>Un nombre de 3.000 caracteres se acepta igual.</a:t>
            </a:r>
            <a:endParaRPr b="0" i="0" sz="1200" u="none" cap="none" strike="noStrike">
              <a:solidFill>
                <a:schemeClr val="dk1"/>
              </a:solidFill>
              <a:latin typeface="Calibri"/>
              <a:ea typeface="Calibri"/>
              <a:cs typeface="Calibri"/>
              <a:sym typeface="Calibri"/>
            </a:endParaRPr>
          </a:p>
        </p:txBody>
      </p:sp>
      <p:pic>
        <p:nvPicPr>
          <p:cNvPr descr="preencoded.png" id="128" name="Google Shape;128;p5"/>
          <p:cNvPicPr preferRelativeResize="0"/>
          <p:nvPr/>
        </p:nvPicPr>
        <p:blipFill rotWithShape="1">
          <a:blip r:embed="rId5">
            <a:alphaModFix/>
          </a:blip>
          <a:srcRect b="0" l="0" r="0" t="0"/>
          <a:stretch/>
        </p:blipFill>
        <p:spPr>
          <a:xfrm>
            <a:off x="6720840" y="3630168"/>
            <a:ext cx="292608" cy="292608"/>
          </a:xfrm>
          <a:prstGeom prst="rect">
            <a:avLst/>
          </a:prstGeom>
          <a:noFill/>
          <a:ln>
            <a:noFill/>
          </a:ln>
        </p:spPr>
      </p:pic>
      <p:sp>
        <p:nvSpPr>
          <p:cNvPr id="129" name="Google Shape;129;p5"/>
          <p:cNvSpPr/>
          <p:nvPr/>
        </p:nvSpPr>
        <p:spPr>
          <a:xfrm>
            <a:off x="7132320" y="3566160"/>
            <a:ext cx="43890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400"/>
              <a:buFont typeface="Cambria"/>
              <a:buNone/>
            </a:pPr>
            <a:r>
              <a:rPr b="1" i="0" lang="en-US" sz="1400" u="none" cap="none" strike="noStrike">
                <a:solidFill>
                  <a:srgbClr val="C0392B"/>
                </a:solidFill>
                <a:latin typeface="Cambria"/>
                <a:ea typeface="Cambria"/>
                <a:cs typeface="Cambria"/>
                <a:sym typeface="Cambria"/>
              </a:rPr>
              <a:t>Copiado y pegado</a:t>
            </a:r>
            <a:endParaRPr b="0" i="0" sz="1400" u="none" cap="none" strike="noStrike">
              <a:solidFill>
                <a:schemeClr val="dk1"/>
              </a:solidFill>
              <a:latin typeface="Calibri"/>
              <a:ea typeface="Calibri"/>
              <a:cs typeface="Calibri"/>
              <a:sym typeface="Calibri"/>
            </a:endParaRPr>
          </a:p>
        </p:txBody>
      </p:sp>
      <p:sp>
        <p:nvSpPr>
          <p:cNvPr id="130" name="Google Shape;130;p5"/>
          <p:cNvSpPr/>
          <p:nvPr/>
        </p:nvSpPr>
        <p:spPr>
          <a:xfrm>
            <a:off x="7132320" y="3904488"/>
            <a:ext cx="4389000" cy="548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00"/>
              <a:buFont typeface="Calibri"/>
              <a:buNone/>
            </a:pPr>
            <a:r>
              <a:rPr b="0" i="0" lang="en-US" sz="1200" u="none" cap="none" strike="noStrike">
                <a:solidFill>
                  <a:srgbClr val="6B7680"/>
                </a:solidFill>
                <a:latin typeface="Calibri"/>
                <a:ea typeface="Calibri"/>
                <a:cs typeface="Calibri"/>
                <a:sym typeface="Calibri"/>
              </a:rPr>
              <a:t>El mismo bloque se repite en cada función; si se olvida copiar, esa función queda sin protección.</a:t>
            </a:r>
            <a:endParaRPr b="0" i="0" sz="1200" u="none" cap="none" strike="noStrike">
              <a:solidFill>
                <a:schemeClr val="dk1"/>
              </a:solidFill>
              <a:latin typeface="Calibri"/>
              <a:ea typeface="Calibri"/>
              <a:cs typeface="Calibri"/>
              <a:sym typeface="Calibri"/>
            </a:endParaRPr>
          </a:p>
        </p:txBody>
      </p:sp>
      <p:sp>
        <p:nvSpPr>
          <p:cNvPr id="131" name="Google Shape;131;p5"/>
          <p:cNvSpPr/>
          <p:nvPr/>
        </p:nvSpPr>
        <p:spPr>
          <a:xfrm>
            <a:off x="640080" y="4892040"/>
            <a:ext cx="10881300" cy="18300"/>
          </a:xfrm>
          <a:prstGeom prst="rect">
            <a:avLst/>
          </a:prstGeom>
          <a:solidFill>
            <a:srgbClr val="E4E7EA"/>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32" name="Google Shape;132;p5"/>
          <p:cNvSpPr/>
          <p:nvPr/>
        </p:nvSpPr>
        <p:spPr>
          <a:xfrm>
            <a:off x="640080" y="5029200"/>
            <a:ext cx="10881300" cy="1371600"/>
          </a:xfrm>
          <a:prstGeom prst="rect">
            <a:avLst/>
          </a:prstGeom>
          <a:solidFill>
            <a:srgbClr val="F2F2F2"/>
          </a:solidFill>
          <a:ln>
            <a:noFill/>
          </a:ln>
        </p:spPr>
        <p:txBody>
          <a:bodyPr anchorCtr="0" anchor="ctr" bIns="101600" lIns="101600" spcFirstLastPara="1" rIns="101600" wrap="square" tIns="101600">
            <a:noAutofit/>
          </a:bodyPr>
          <a:lstStyle/>
          <a:p>
            <a:pPr indent="0" lvl="0" marL="0" marR="0" rtl="0" algn="l">
              <a:spcBef>
                <a:spcPts val="0"/>
              </a:spcBef>
              <a:spcAft>
                <a:spcPts val="0"/>
              </a:spcAft>
              <a:buClr>
                <a:srgbClr val="36454F"/>
              </a:buClr>
              <a:buSzPts val="1250"/>
              <a:buFont typeface="Courier New"/>
              <a:buNone/>
            </a:pPr>
            <a:r>
              <a:rPr b="0" i="0" lang="en-US" sz="1250" u="none" cap="none" strike="noStrike">
                <a:solidFill>
                  <a:srgbClr val="36454F"/>
                </a:solidFill>
                <a:latin typeface="Courier New"/>
                <a:ea typeface="Courier New"/>
                <a:cs typeface="Courier New"/>
                <a:sym typeface="Courier New"/>
              </a:rPr>
              <a:t>numeros_prohibidos = ['0','1',...,'9']</a:t>
            </a:r>
            <a:br>
              <a:rPr b="0" i="0" lang="en-US" sz="1250" u="none" cap="none" strike="noStrike">
                <a:solidFill>
                  <a:srgbClr val="36454F"/>
                </a:solidFill>
                <a:latin typeface="Courier New"/>
                <a:ea typeface="Courier New"/>
                <a:cs typeface="Courier New"/>
                <a:sym typeface="Courier New"/>
              </a:rPr>
            </a:b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6454F"/>
              </a:buClr>
              <a:buSzPts val="1250"/>
              <a:buFont typeface="Courier New"/>
              <a:buNone/>
            </a:pPr>
            <a:r>
              <a:rPr b="0" i="0" lang="en-US" sz="1250" u="none" cap="none" strike="noStrike">
                <a:solidFill>
                  <a:srgbClr val="36454F"/>
                </a:solidFill>
                <a:latin typeface="Courier New"/>
                <a:ea typeface="Courier New"/>
                <a:cs typeface="Courier New"/>
                <a:sym typeface="Courier New"/>
              </a:rPr>
              <a:t>for num in numeros_prohibidos:</a:t>
            </a:r>
            <a:br>
              <a:rPr b="0" i="0" lang="en-US" sz="1250" u="none" cap="none" strike="noStrike">
                <a:solidFill>
                  <a:srgbClr val="36454F"/>
                </a:solidFill>
                <a:latin typeface="Courier New"/>
                <a:ea typeface="Courier New"/>
                <a:cs typeface="Courier New"/>
                <a:sym typeface="Courier New"/>
              </a:rPr>
            </a:b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6454F"/>
              </a:buClr>
              <a:buSzPts val="1250"/>
              <a:buFont typeface="Courier New"/>
              <a:buNone/>
            </a:pPr>
            <a:r>
              <a:rPr b="0" i="0" lang="en-US" sz="1250" u="none" cap="none" strike="noStrike">
                <a:solidFill>
                  <a:srgbClr val="36454F"/>
                </a:solidFill>
                <a:latin typeface="Courier New"/>
                <a:ea typeface="Courier New"/>
                <a:cs typeface="Courier New"/>
                <a:sym typeface="Courier New"/>
              </a:rPr>
              <a:t>    if num in cliente:</a:t>
            </a:r>
            <a:br>
              <a:rPr b="0" i="0" lang="en-US" sz="1250" u="none" cap="none" strike="noStrike">
                <a:solidFill>
                  <a:srgbClr val="36454F"/>
                </a:solidFill>
                <a:latin typeface="Courier New"/>
                <a:ea typeface="Courier New"/>
                <a:cs typeface="Courier New"/>
                <a:sym typeface="Courier New"/>
              </a:rPr>
            </a:b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36454F"/>
              </a:buClr>
              <a:buSzPts val="1250"/>
              <a:buFont typeface="Courier New"/>
              <a:buNone/>
            </a:pPr>
            <a:r>
              <a:rPr b="0" i="0" lang="en-US" sz="1250" u="none" cap="none" strike="noStrike">
                <a:solidFill>
                  <a:srgbClr val="36454F"/>
                </a:solidFill>
                <a:latin typeface="Courier New"/>
                <a:ea typeface="Courier New"/>
                <a:cs typeface="Courier New"/>
                <a:sym typeface="Courier New"/>
              </a:rPr>
              <a:t>        tiene_numero = True</a:t>
            </a:r>
            <a:endParaRPr b="0" i="0" sz="1250" u="none" cap="none" strike="noStrike">
              <a:solidFill>
                <a:schemeClr val="dk1"/>
              </a:solidFill>
              <a:latin typeface="Calibri"/>
              <a:ea typeface="Calibri"/>
              <a:cs typeface="Calibri"/>
              <a:sym typeface="Calibri"/>
            </a:endParaRPr>
          </a:p>
        </p:txBody>
      </p:sp>
      <p:sp>
        <p:nvSpPr>
          <p:cNvPr id="133" name="Google Shape;133;p5"/>
          <p:cNvSpPr/>
          <p:nvPr/>
        </p:nvSpPr>
        <p:spPr>
          <a:xfrm>
            <a:off x="457200" y="6473952"/>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Sistema de Gestión Funeraria · Introducción a la Programación Segura</a:t>
            </a:r>
            <a:endParaRPr b="0" i="0" sz="950" u="none" cap="none" strike="noStrike">
              <a:solidFill>
                <a:schemeClr val="dk1"/>
              </a:solidFill>
              <a:latin typeface="Calibri"/>
              <a:ea typeface="Calibri"/>
              <a:cs typeface="Calibri"/>
              <a:sym typeface="Calibri"/>
            </a:endParaRPr>
          </a:p>
        </p:txBody>
      </p:sp>
      <p:sp>
        <p:nvSpPr>
          <p:cNvPr id="134" name="Google Shape;134;p5"/>
          <p:cNvSpPr/>
          <p:nvPr/>
        </p:nvSpPr>
        <p:spPr>
          <a:xfrm>
            <a:off x="10362895" y="6473952"/>
            <a:ext cx="1371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5</a:t>
            </a:r>
            <a:endParaRPr b="0" i="0" sz="950" u="none" cap="none" strike="noStrike">
              <a:solidFill>
                <a:schemeClr val="dk1"/>
              </a:solidFill>
              <a:latin typeface="Calibri"/>
              <a:ea typeface="Calibri"/>
              <a:cs typeface="Calibri"/>
              <a:sym typeface="Calibri"/>
            </a:endParaRPr>
          </a:p>
        </p:txBody>
      </p:sp>
      <p:pic>
        <p:nvPicPr>
          <p:cNvPr id="135" name="Google Shape;135;p5"/>
          <p:cNvPicPr preferRelativeResize="0"/>
          <p:nvPr/>
        </p:nvPicPr>
        <p:blipFill rotWithShape="1">
          <a:blip r:embed="rId6">
            <a:alphaModFix/>
          </a:blip>
          <a:srcRect b="0" l="0" r="0" t="0"/>
          <a:stretch/>
        </p:blipFill>
        <p:spPr>
          <a:xfrm>
            <a:off x="640075" y="1655275"/>
            <a:ext cx="5852175" cy="30175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6"/>
          <p:cNvSpPr/>
          <p:nvPr/>
        </p:nvSpPr>
        <p:spPr>
          <a:xfrm>
            <a:off x="-914400" y="-914400"/>
            <a:ext cx="2194500" cy="2194500"/>
          </a:xfrm>
          <a:prstGeom prst="ellipse">
            <a:avLst/>
          </a:prstGeom>
          <a:solidFill>
            <a:srgbClr val="E6F4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42" name="Google Shape;142;p6"/>
          <p:cNvPicPr preferRelativeResize="0"/>
          <p:nvPr/>
        </p:nvPicPr>
        <p:blipFill rotWithShape="1">
          <a:blip r:embed="rId3">
            <a:alphaModFix/>
          </a:blip>
          <a:srcRect b="0" l="0" r="0" t="0"/>
          <a:stretch/>
        </p:blipFill>
        <p:spPr>
          <a:xfrm>
            <a:off x="640080" y="457200"/>
            <a:ext cx="384048" cy="384048"/>
          </a:xfrm>
          <a:prstGeom prst="rect">
            <a:avLst/>
          </a:prstGeom>
          <a:noFill/>
          <a:ln>
            <a:noFill/>
          </a:ln>
        </p:spPr>
      </p:pic>
      <p:sp>
        <p:nvSpPr>
          <p:cNvPr id="143" name="Google Shape;143;p6"/>
          <p:cNvSpPr/>
          <p:nvPr/>
        </p:nvSpPr>
        <p:spPr>
          <a:xfrm>
            <a:off x="1143000" y="475488"/>
            <a:ext cx="82296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alibri"/>
              <a:buNone/>
            </a:pPr>
            <a:r>
              <a:rPr b="1" i="0" lang="en-US" sz="1250" u="none" cap="none" strike="noStrike">
                <a:solidFill>
                  <a:srgbClr val="6B7680"/>
                </a:solidFill>
                <a:latin typeface="Calibri"/>
                <a:ea typeface="Calibri"/>
                <a:cs typeface="Calibri"/>
                <a:sym typeface="Calibri"/>
              </a:rPr>
              <a:t>BLOQUE 2 · VALIDACIÓN Y SANEAMIENTO DE ENTRADAS</a:t>
            </a:r>
            <a:endParaRPr b="0" i="0" sz="1250" u="none" cap="none" strike="noStrike">
              <a:solidFill>
                <a:schemeClr val="dk1"/>
              </a:solidFill>
              <a:latin typeface="Calibri"/>
              <a:ea typeface="Calibri"/>
              <a:cs typeface="Calibri"/>
              <a:sym typeface="Calibri"/>
            </a:endParaRPr>
          </a:p>
        </p:txBody>
      </p:sp>
      <p:sp>
        <p:nvSpPr>
          <p:cNvPr id="144" name="Google Shape;144;p6"/>
          <p:cNvSpPr/>
          <p:nvPr/>
        </p:nvSpPr>
        <p:spPr>
          <a:xfrm>
            <a:off x="640080" y="868680"/>
            <a:ext cx="10515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2700"/>
              <a:buFont typeface="Cambria"/>
              <a:buNone/>
            </a:pPr>
            <a:r>
              <a:rPr b="1" i="0" lang="en-US" sz="2700" u="none" cap="none" strike="noStrike">
                <a:solidFill>
                  <a:srgbClr val="36454F"/>
                </a:solidFill>
                <a:latin typeface="Cambria"/>
                <a:ea typeface="Cambria"/>
                <a:cs typeface="Cambria"/>
                <a:sym typeface="Cambria"/>
              </a:rPr>
              <a:t>Versión 2 — dos funciones genéricas y centralizadas</a:t>
            </a:r>
            <a:endParaRPr b="0" i="0" sz="2700" u="none" cap="none" strike="noStrike">
              <a:solidFill>
                <a:schemeClr val="dk1"/>
              </a:solidFill>
              <a:latin typeface="Calibri"/>
              <a:ea typeface="Calibri"/>
              <a:cs typeface="Calibri"/>
              <a:sym typeface="Calibri"/>
            </a:endParaRPr>
          </a:p>
        </p:txBody>
      </p:sp>
      <p:sp>
        <p:nvSpPr>
          <p:cNvPr id="145" name="Google Shape;145;p6"/>
          <p:cNvSpPr/>
          <p:nvPr/>
        </p:nvSpPr>
        <p:spPr>
          <a:xfrm>
            <a:off x="640080" y="1691640"/>
            <a:ext cx="5349300" cy="2331600"/>
          </a:xfrm>
          <a:prstGeom prst="roundRect">
            <a:avLst>
              <a:gd fmla="val 3137" name="adj"/>
            </a:avLst>
          </a:prstGeom>
          <a:solidFill>
            <a:srgbClr val="FFFFFF"/>
          </a:solidFill>
          <a:ln cap="flat" cmpd="sng" w="19050">
            <a:solidFill>
              <a:srgbClr val="B9C0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46" name="Google Shape;146;p6"/>
          <p:cNvPicPr preferRelativeResize="0"/>
          <p:nvPr/>
        </p:nvPicPr>
        <p:blipFill rotWithShape="1">
          <a:blip r:embed="rId4">
            <a:alphaModFix/>
          </a:blip>
          <a:srcRect b="0" l="0" r="0" t="0"/>
          <a:stretch/>
        </p:blipFill>
        <p:spPr>
          <a:xfrm>
            <a:off x="841248" y="1874520"/>
            <a:ext cx="310896" cy="310896"/>
          </a:xfrm>
          <a:prstGeom prst="rect">
            <a:avLst/>
          </a:prstGeom>
          <a:noFill/>
          <a:ln>
            <a:noFill/>
          </a:ln>
        </p:spPr>
      </p:pic>
      <p:sp>
        <p:nvSpPr>
          <p:cNvPr id="147" name="Google Shape;147;p6"/>
          <p:cNvSpPr/>
          <p:nvPr/>
        </p:nvSpPr>
        <p:spPr>
          <a:xfrm>
            <a:off x="1234440" y="1847088"/>
            <a:ext cx="452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ourier New"/>
              <a:buNone/>
            </a:pPr>
            <a:r>
              <a:rPr b="0" i="0" lang="en-US" sz="1250" u="none" cap="none" strike="noStrike">
                <a:solidFill>
                  <a:srgbClr val="6B7680"/>
                </a:solidFill>
                <a:latin typeface="Courier New"/>
                <a:ea typeface="Courier New"/>
                <a:cs typeface="Courier New"/>
                <a:sym typeface="Courier New"/>
              </a:rPr>
              <a:t>funciones_funeraria.py — líneas 15-62</a:t>
            </a:r>
            <a:endParaRPr b="0" i="0" sz="1250" u="none" cap="none" strike="noStrike">
              <a:solidFill>
                <a:schemeClr val="dk1"/>
              </a:solidFill>
              <a:latin typeface="Calibri"/>
              <a:ea typeface="Calibri"/>
              <a:cs typeface="Calibri"/>
              <a:sym typeface="Calibri"/>
            </a:endParaRPr>
          </a:p>
        </p:txBody>
      </p:sp>
      <p:sp>
        <p:nvSpPr>
          <p:cNvPr id="148" name="Google Shape;148;p6"/>
          <p:cNvSpPr/>
          <p:nvPr/>
        </p:nvSpPr>
        <p:spPr>
          <a:xfrm>
            <a:off x="914400" y="2446020"/>
            <a:ext cx="48006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Espacio para captura:</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solicitar_texto_seguro()</a:t>
            </a:r>
            <a:endParaRPr b="0" i="0" sz="1300" u="none" cap="none" strike="noStrike">
              <a:solidFill>
                <a:schemeClr val="dk1"/>
              </a:solidFill>
              <a:latin typeface="Calibri"/>
              <a:ea typeface="Calibri"/>
              <a:cs typeface="Calibri"/>
              <a:sym typeface="Calibri"/>
            </a:endParaRPr>
          </a:p>
        </p:txBody>
      </p:sp>
      <p:sp>
        <p:nvSpPr>
          <p:cNvPr id="149" name="Google Shape;149;p6"/>
          <p:cNvSpPr/>
          <p:nvPr/>
        </p:nvSpPr>
        <p:spPr>
          <a:xfrm>
            <a:off x="6172200" y="1691640"/>
            <a:ext cx="5349300" cy="2331600"/>
          </a:xfrm>
          <a:prstGeom prst="roundRect">
            <a:avLst>
              <a:gd fmla="val 3137" name="adj"/>
            </a:avLst>
          </a:prstGeom>
          <a:solidFill>
            <a:srgbClr val="FFFFFF"/>
          </a:solidFill>
          <a:ln cap="flat" cmpd="sng" w="19050">
            <a:solidFill>
              <a:srgbClr val="B9C0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50" name="Google Shape;150;p6"/>
          <p:cNvPicPr preferRelativeResize="0"/>
          <p:nvPr/>
        </p:nvPicPr>
        <p:blipFill rotWithShape="1">
          <a:blip r:embed="rId4">
            <a:alphaModFix/>
          </a:blip>
          <a:srcRect b="0" l="0" r="0" t="0"/>
          <a:stretch/>
        </p:blipFill>
        <p:spPr>
          <a:xfrm>
            <a:off x="6373368" y="1874520"/>
            <a:ext cx="310896" cy="310896"/>
          </a:xfrm>
          <a:prstGeom prst="rect">
            <a:avLst/>
          </a:prstGeom>
          <a:noFill/>
          <a:ln>
            <a:noFill/>
          </a:ln>
        </p:spPr>
      </p:pic>
      <p:sp>
        <p:nvSpPr>
          <p:cNvPr id="151" name="Google Shape;151;p6"/>
          <p:cNvSpPr/>
          <p:nvPr/>
        </p:nvSpPr>
        <p:spPr>
          <a:xfrm>
            <a:off x="6766560" y="1847088"/>
            <a:ext cx="452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ourier New"/>
              <a:buNone/>
            </a:pPr>
            <a:r>
              <a:rPr b="0" i="0" lang="en-US" sz="1250" u="none" cap="none" strike="noStrike">
                <a:solidFill>
                  <a:srgbClr val="6B7680"/>
                </a:solidFill>
                <a:latin typeface="Courier New"/>
                <a:ea typeface="Courier New"/>
                <a:cs typeface="Courier New"/>
                <a:sym typeface="Courier New"/>
              </a:rPr>
              <a:t>funciones_funeraria.py — líneas 65-84</a:t>
            </a:r>
            <a:endParaRPr b="0" i="0" sz="1250" u="none" cap="none" strike="noStrike">
              <a:solidFill>
                <a:schemeClr val="dk1"/>
              </a:solidFill>
              <a:latin typeface="Calibri"/>
              <a:ea typeface="Calibri"/>
              <a:cs typeface="Calibri"/>
              <a:sym typeface="Calibri"/>
            </a:endParaRPr>
          </a:p>
        </p:txBody>
      </p:sp>
      <p:sp>
        <p:nvSpPr>
          <p:cNvPr id="152" name="Google Shape;152;p6"/>
          <p:cNvSpPr/>
          <p:nvPr/>
        </p:nvSpPr>
        <p:spPr>
          <a:xfrm>
            <a:off x="6446520" y="2446020"/>
            <a:ext cx="48006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Espacio para captura:</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solicitar_numero_seguro()</a:t>
            </a:r>
            <a:endParaRPr b="0" i="0" sz="1300" u="none" cap="none" strike="noStrike">
              <a:solidFill>
                <a:schemeClr val="dk1"/>
              </a:solidFill>
              <a:latin typeface="Calibri"/>
              <a:ea typeface="Calibri"/>
              <a:cs typeface="Calibri"/>
              <a:sym typeface="Calibri"/>
            </a:endParaRPr>
          </a:p>
        </p:txBody>
      </p:sp>
      <p:sp>
        <p:nvSpPr>
          <p:cNvPr id="153" name="Google Shape;153;p6"/>
          <p:cNvSpPr/>
          <p:nvPr/>
        </p:nvSpPr>
        <p:spPr>
          <a:xfrm>
            <a:off x="640080" y="4251960"/>
            <a:ext cx="5212200" cy="868800"/>
          </a:xfrm>
          <a:prstGeom prst="roundRect">
            <a:avLst>
              <a:gd fmla="val 7368" name="adj"/>
            </a:avLst>
          </a:prstGeom>
          <a:solidFill>
            <a:srgbClr val="E6F4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54" name="Google Shape;154;p6"/>
          <p:cNvPicPr preferRelativeResize="0"/>
          <p:nvPr/>
        </p:nvPicPr>
        <p:blipFill rotWithShape="1">
          <a:blip r:embed="rId3">
            <a:alphaModFix/>
          </a:blip>
          <a:srcRect b="0" l="0" r="0" t="0"/>
          <a:stretch/>
        </p:blipFill>
        <p:spPr>
          <a:xfrm>
            <a:off x="822960" y="4530852"/>
            <a:ext cx="310896" cy="310896"/>
          </a:xfrm>
          <a:prstGeom prst="rect">
            <a:avLst/>
          </a:prstGeom>
          <a:noFill/>
          <a:ln>
            <a:noFill/>
          </a:ln>
        </p:spPr>
      </p:pic>
      <p:sp>
        <p:nvSpPr>
          <p:cNvPr id="155" name="Google Shape;155;p6"/>
          <p:cNvSpPr/>
          <p:nvPr/>
        </p:nvSpPr>
        <p:spPr>
          <a:xfrm>
            <a:off x="1261872" y="4343400"/>
            <a:ext cx="4389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74"/>
              </a:buClr>
              <a:buSzPts val="1300"/>
              <a:buFont typeface="Cambria"/>
              <a:buNone/>
            </a:pPr>
            <a:r>
              <a:rPr b="1" i="0" lang="en-US" sz="1300" u="none" cap="none" strike="noStrike">
                <a:solidFill>
                  <a:srgbClr val="0E8C74"/>
                </a:solidFill>
                <a:latin typeface="Cambria"/>
                <a:ea typeface="Cambria"/>
                <a:cs typeface="Cambria"/>
                <a:sym typeface="Cambria"/>
              </a:rPr>
              <a:t>Rechaza campos vacíos</a:t>
            </a:r>
            <a:endParaRPr b="0" i="0" sz="1300" u="none" cap="none" strike="noStrike">
              <a:solidFill>
                <a:schemeClr val="dk1"/>
              </a:solidFill>
              <a:latin typeface="Calibri"/>
              <a:ea typeface="Calibri"/>
              <a:cs typeface="Calibri"/>
              <a:sym typeface="Calibri"/>
            </a:endParaRPr>
          </a:p>
        </p:txBody>
      </p:sp>
      <p:sp>
        <p:nvSpPr>
          <p:cNvPr id="156" name="Google Shape;156;p6"/>
          <p:cNvSpPr/>
          <p:nvPr/>
        </p:nvSpPr>
        <p:spPr>
          <a:xfrm>
            <a:off x="1261872" y="4636008"/>
            <a:ext cx="43890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B41"/>
              </a:buClr>
              <a:buSzPts val="1080"/>
              <a:buFont typeface="Calibri"/>
              <a:buNone/>
            </a:pPr>
            <a:r>
              <a:rPr b="0" i="0" lang="en-US" sz="1080" u="none" cap="none" strike="noStrike">
                <a:solidFill>
                  <a:srgbClr val="1B4B41"/>
                </a:solidFill>
                <a:latin typeface="Calibri"/>
                <a:ea typeface="Calibri"/>
                <a:cs typeface="Calibri"/>
                <a:sym typeface="Calibri"/>
              </a:rPr>
              <a:t>Ninguna entrada de texto puede quedar en blanco.</a:t>
            </a:r>
            <a:endParaRPr b="0" i="0" sz="1080" u="none" cap="none" strike="noStrike">
              <a:solidFill>
                <a:schemeClr val="dk1"/>
              </a:solidFill>
              <a:latin typeface="Calibri"/>
              <a:ea typeface="Calibri"/>
              <a:cs typeface="Calibri"/>
              <a:sym typeface="Calibri"/>
            </a:endParaRPr>
          </a:p>
        </p:txBody>
      </p:sp>
      <p:sp>
        <p:nvSpPr>
          <p:cNvPr id="157" name="Google Shape;157;p6"/>
          <p:cNvSpPr/>
          <p:nvPr/>
        </p:nvSpPr>
        <p:spPr>
          <a:xfrm>
            <a:off x="6080760" y="4251960"/>
            <a:ext cx="5212200" cy="868800"/>
          </a:xfrm>
          <a:prstGeom prst="roundRect">
            <a:avLst>
              <a:gd fmla="val 7368" name="adj"/>
            </a:avLst>
          </a:prstGeom>
          <a:solidFill>
            <a:srgbClr val="E6F4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58" name="Google Shape;158;p6"/>
          <p:cNvPicPr preferRelativeResize="0"/>
          <p:nvPr/>
        </p:nvPicPr>
        <p:blipFill rotWithShape="1">
          <a:blip r:embed="rId3">
            <a:alphaModFix/>
          </a:blip>
          <a:srcRect b="0" l="0" r="0" t="0"/>
          <a:stretch/>
        </p:blipFill>
        <p:spPr>
          <a:xfrm>
            <a:off x="6263640" y="4530852"/>
            <a:ext cx="310896" cy="310896"/>
          </a:xfrm>
          <a:prstGeom prst="rect">
            <a:avLst/>
          </a:prstGeom>
          <a:noFill/>
          <a:ln>
            <a:noFill/>
          </a:ln>
        </p:spPr>
      </p:pic>
      <p:sp>
        <p:nvSpPr>
          <p:cNvPr id="159" name="Google Shape;159;p6"/>
          <p:cNvSpPr/>
          <p:nvPr/>
        </p:nvSpPr>
        <p:spPr>
          <a:xfrm>
            <a:off x="6702552" y="4343400"/>
            <a:ext cx="4389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74"/>
              </a:buClr>
              <a:buSzPts val="1300"/>
              <a:buFont typeface="Cambria"/>
              <a:buNone/>
            </a:pPr>
            <a:r>
              <a:rPr b="1" i="0" lang="en-US" sz="1300" u="none" cap="none" strike="noStrike">
                <a:solidFill>
                  <a:srgbClr val="0E8C74"/>
                </a:solidFill>
                <a:latin typeface="Cambria"/>
                <a:ea typeface="Cambria"/>
                <a:cs typeface="Cambria"/>
                <a:sym typeface="Cambria"/>
              </a:rPr>
              <a:t>Límite de largo máximo</a:t>
            </a:r>
            <a:endParaRPr b="0" i="0" sz="1300" u="none" cap="none" strike="noStrike">
              <a:solidFill>
                <a:schemeClr val="dk1"/>
              </a:solidFill>
              <a:latin typeface="Calibri"/>
              <a:ea typeface="Calibri"/>
              <a:cs typeface="Calibri"/>
              <a:sym typeface="Calibri"/>
            </a:endParaRPr>
          </a:p>
        </p:txBody>
      </p:sp>
      <p:sp>
        <p:nvSpPr>
          <p:cNvPr id="160" name="Google Shape;160;p6"/>
          <p:cNvSpPr/>
          <p:nvPr/>
        </p:nvSpPr>
        <p:spPr>
          <a:xfrm>
            <a:off x="6702552" y="4636008"/>
            <a:ext cx="43890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B41"/>
              </a:buClr>
              <a:buSzPts val="1080"/>
              <a:buFont typeface="Calibri"/>
              <a:buNone/>
            </a:pPr>
            <a:r>
              <a:rPr b="0" i="0" lang="en-US" sz="1080" u="none" cap="none" strike="noStrike">
                <a:solidFill>
                  <a:srgbClr val="1B4B41"/>
                </a:solidFill>
                <a:latin typeface="Calibri"/>
                <a:ea typeface="Calibri"/>
                <a:cs typeface="Calibri"/>
                <a:sym typeface="Calibri"/>
              </a:rPr>
              <a:t>Se define un largo_maximo por campo, evitando entradas descontroladas.</a:t>
            </a:r>
            <a:endParaRPr b="0" i="0" sz="1080" u="none" cap="none" strike="noStrike">
              <a:solidFill>
                <a:schemeClr val="dk1"/>
              </a:solidFill>
              <a:latin typeface="Calibri"/>
              <a:ea typeface="Calibri"/>
              <a:cs typeface="Calibri"/>
              <a:sym typeface="Calibri"/>
            </a:endParaRPr>
          </a:p>
        </p:txBody>
      </p:sp>
      <p:sp>
        <p:nvSpPr>
          <p:cNvPr id="161" name="Google Shape;161;p6"/>
          <p:cNvSpPr/>
          <p:nvPr/>
        </p:nvSpPr>
        <p:spPr>
          <a:xfrm>
            <a:off x="640080" y="5321808"/>
            <a:ext cx="5212200" cy="868800"/>
          </a:xfrm>
          <a:prstGeom prst="roundRect">
            <a:avLst>
              <a:gd fmla="val 7368" name="adj"/>
            </a:avLst>
          </a:prstGeom>
          <a:solidFill>
            <a:srgbClr val="E6F4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62" name="Google Shape;162;p6"/>
          <p:cNvPicPr preferRelativeResize="0"/>
          <p:nvPr/>
        </p:nvPicPr>
        <p:blipFill rotWithShape="1">
          <a:blip r:embed="rId3">
            <a:alphaModFix/>
          </a:blip>
          <a:srcRect b="0" l="0" r="0" t="0"/>
          <a:stretch/>
        </p:blipFill>
        <p:spPr>
          <a:xfrm>
            <a:off x="822960" y="5600700"/>
            <a:ext cx="310896" cy="310896"/>
          </a:xfrm>
          <a:prstGeom prst="rect">
            <a:avLst/>
          </a:prstGeom>
          <a:noFill/>
          <a:ln>
            <a:noFill/>
          </a:ln>
        </p:spPr>
      </p:pic>
      <p:sp>
        <p:nvSpPr>
          <p:cNvPr id="163" name="Google Shape;163;p6"/>
          <p:cNvSpPr/>
          <p:nvPr/>
        </p:nvSpPr>
        <p:spPr>
          <a:xfrm>
            <a:off x="1261872" y="5413248"/>
            <a:ext cx="4389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74"/>
              </a:buClr>
              <a:buSzPts val="1300"/>
              <a:buFont typeface="Cambria"/>
              <a:buNone/>
            </a:pPr>
            <a:r>
              <a:rPr b="1" i="0" lang="en-US" sz="1300" u="none" cap="none" strike="noStrike">
                <a:solidFill>
                  <a:srgbClr val="0E8C74"/>
                </a:solidFill>
                <a:latin typeface="Cambria"/>
                <a:ea typeface="Cambria"/>
                <a:cs typeface="Cambria"/>
                <a:sym typeface="Cambria"/>
              </a:rPr>
              <a:t>Bloquea caracteres especiales</a:t>
            </a:r>
            <a:endParaRPr b="0" i="0" sz="1300" u="none" cap="none" strike="noStrike">
              <a:solidFill>
                <a:schemeClr val="dk1"/>
              </a:solidFill>
              <a:latin typeface="Calibri"/>
              <a:ea typeface="Calibri"/>
              <a:cs typeface="Calibri"/>
              <a:sym typeface="Calibri"/>
            </a:endParaRPr>
          </a:p>
        </p:txBody>
      </p:sp>
      <p:sp>
        <p:nvSpPr>
          <p:cNvPr id="164" name="Google Shape;164;p6"/>
          <p:cNvSpPr/>
          <p:nvPr/>
        </p:nvSpPr>
        <p:spPr>
          <a:xfrm>
            <a:off x="1261872" y="5705856"/>
            <a:ext cx="43890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B41"/>
              </a:buClr>
              <a:buSzPts val="1080"/>
              <a:buFont typeface="Calibri"/>
              <a:buNone/>
            </a:pPr>
            <a:r>
              <a:rPr b="0" i="0" lang="en-US" sz="1080" u="none" cap="none" strike="noStrike">
                <a:solidFill>
                  <a:srgbClr val="1B4B41"/>
                </a:solidFill>
                <a:latin typeface="Calibri"/>
                <a:ea typeface="Calibri"/>
                <a:cs typeface="Calibri"/>
                <a:sym typeface="Calibri"/>
              </a:rPr>
              <a:t>Una lista de símbolos prohibidos protege contra inyección.</a:t>
            </a:r>
            <a:endParaRPr b="0" i="0" sz="1080" u="none" cap="none" strike="noStrike">
              <a:solidFill>
                <a:schemeClr val="dk1"/>
              </a:solidFill>
              <a:latin typeface="Calibri"/>
              <a:ea typeface="Calibri"/>
              <a:cs typeface="Calibri"/>
              <a:sym typeface="Calibri"/>
            </a:endParaRPr>
          </a:p>
        </p:txBody>
      </p:sp>
      <p:sp>
        <p:nvSpPr>
          <p:cNvPr id="165" name="Google Shape;165;p6"/>
          <p:cNvSpPr/>
          <p:nvPr/>
        </p:nvSpPr>
        <p:spPr>
          <a:xfrm>
            <a:off x="6080760" y="5321808"/>
            <a:ext cx="5212200" cy="868800"/>
          </a:xfrm>
          <a:prstGeom prst="roundRect">
            <a:avLst>
              <a:gd fmla="val 7368" name="adj"/>
            </a:avLst>
          </a:prstGeom>
          <a:solidFill>
            <a:srgbClr val="E6F4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66" name="Google Shape;166;p6"/>
          <p:cNvPicPr preferRelativeResize="0"/>
          <p:nvPr/>
        </p:nvPicPr>
        <p:blipFill rotWithShape="1">
          <a:blip r:embed="rId3">
            <a:alphaModFix/>
          </a:blip>
          <a:srcRect b="0" l="0" r="0" t="0"/>
          <a:stretch/>
        </p:blipFill>
        <p:spPr>
          <a:xfrm>
            <a:off x="6263640" y="5600700"/>
            <a:ext cx="310896" cy="310896"/>
          </a:xfrm>
          <a:prstGeom prst="rect">
            <a:avLst/>
          </a:prstGeom>
          <a:noFill/>
          <a:ln>
            <a:noFill/>
          </a:ln>
        </p:spPr>
      </p:pic>
      <p:sp>
        <p:nvSpPr>
          <p:cNvPr id="167" name="Google Shape;167;p6"/>
          <p:cNvSpPr/>
          <p:nvPr/>
        </p:nvSpPr>
        <p:spPr>
          <a:xfrm>
            <a:off x="6702552" y="5413248"/>
            <a:ext cx="4389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74"/>
              </a:buClr>
              <a:buSzPts val="1300"/>
              <a:buFont typeface="Cambria"/>
              <a:buNone/>
            </a:pPr>
            <a:r>
              <a:rPr b="1" i="0" lang="en-US" sz="1300" u="none" cap="none" strike="noStrike">
                <a:solidFill>
                  <a:srgbClr val="0E8C74"/>
                </a:solidFill>
                <a:latin typeface="Cambria"/>
                <a:ea typeface="Cambria"/>
                <a:cs typeface="Cambria"/>
                <a:sym typeface="Cambria"/>
              </a:rPr>
              <a:t>Rango numérico válido</a:t>
            </a:r>
            <a:endParaRPr b="0" i="0" sz="1300" u="none" cap="none" strike="noStrike">
              <a:solidFill>
                <a:schemeClr val="dk1"/>
              </a:solidFill>
              <a:latin typeface="Calibri"/>
              <a:ea typeface="Calibri"/>
              <a:cs typeface="Calibri"/>
              <a:sym typeface="Calibri"/>
            </a:endParaRPr>
          </a:p>
        </p:txBody>
      </p:sp>
      <p:sp>
        <p:nvSpPr>
          <p:cNvPr id="168" name="Google Shape;168;p6"/>
          <p:cNvSpPr/>
          <p:nvPr/>
        </p:nvSpPr>
        <p:spPr>
          <a:xfrm>
            <a:off x="6702552" y="5705856"/>
            <a:ext cx="4389000" cy="438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B41"/>
              </a:buClr>
              <a:buSzPts val="1080"/>
              <a:buFont typeface="Calibri"/>
              <a:buNone/>
            </a:pPr>
            <a:r>
              <a:rPr b="0" i="0" lang="en-US" sz="1080" u="none" cap="none" strike="noStrike">
                <a:solidFill>
                  <a:srgbClr val="1B4B41"/>
                </a:solidFill>
                <a:latin typeface="Calibri"/>
                <a:ea typeface="Calibri"/>
                <a:cs typeface="Calibri"/>
                <a:sym typeface="Calibri"/>
              </a:rPr>
              <a:t>solicitar_numero_seguro() exige enteros dentro de un mínimo y máximo lógicos.</a:t>
            </a:r>
            <a:endParaRPr b="0" i="0" sz="1080" u="none" cap="none" strike="noStrike">
              <a:solidFill>
                <a:schemeClr val="dk1"/>
              </a:solidFill>
              <a:latin typeface="Calibri"/>
              <a:ea typeface="Calibri"/>
              <a:cs typeface="Calibri"/>
              <a:sym typeface="Calibri"/>
            </a:endParaRPr>
          </a:p>
        </p:txBody>
      </p:sp>
      <p:sp>
        <p:nvSpPr>
          <p:cNvPr id="169" name="Google Shape;169;p6"/>
          <p:cNvSpPr/>
          <p:nvPr/>
        </p:nvSpPr>
        <p:spPr>
          <a:xfrm>
            <a:off x="457200" y="6473952"/>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Sistema de Gestión Funeraria · Introducción a la Programación Segura</a:t>
            </a:r>
            <a:endParaRPr b="0" i="0" sz="950" u="none" cap="none" strike="noStrike">
              <a:solidFill>
                <a:schemeClr val="dk1"/>
              </a:solidFill>
              <a:latin typeface="Calibri"/>
              <a:ea typeface="Calibri"/>
              <a:cs typeface="Calibri"/>
              <a:sym typeface="Calibri"/>
            </a:endParaRPr>
          </a:p>
        </p:txBody>
      </p:sp>
      <p:sp>
        <p:nvSpPr>
          <p:cNvPr id="170" name="Google Shape;170;p6"/>
          <p:cNvSpPr/>
          <p:nvPr/>
        </p:nvSpPr>
        <p:spPr>
          <a:xfrm>
            <a:off x="10362895" y="6473952"/>
            <a:ext cx="1371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6</a:t>
            </a:r>
            <a:endParaRPr b="0" i="0" sz="950" u="none" cap="none" strike="noStrike">
              <a:solidFill>
                <a:schemeClr val="dk1"/>
              </a:solidFill>
              <a:latin typeface="Calibri"/>
              <a:ea typeface="Calibri"/>
              <a:cs typeface="Calibri"/>
              <a:sym typeface="Calibri"/>
            </a:endParaRPr>
          </a:p>
        </p:txBody>
      </p:sp>
      <p:pic>
        <p:nvPicPr>
          <p:cNvPr id="171" name="Google Shape;171;p6"/>
          <p:cNvPicPr preferRelativeResize="0"/>
          <p:nvPr/>
        </p:nvPicPr>
        <p:blipFill rotWithShape="1">
          <a:blip r:embed="rId5">
            <a:alphaModFix/>
          </a:blip>
          <a:srcRect b="31343" l="4270" r="0" t="32451"/>
          <a:stretch/>
        </p:blipFill>
        <p:spPr>
          <a:xfrm>
            <a:off x="571500" y="1691650"/>
            <a:ext cx="5600700" cy="2331701"/>
          </a:xfrm>
          <a:prstGeom prst="rect">
            <a:avLst/>
          </a:prstGeom>
          <a:noFill/>
          <a:ln>
            <a:noFill/>
          </a:ln>
        </p:spPr>
      </p:pic>
      <p:pic>
        <p:nvPicPr>
          <p:cNvPr id="172" name="Google Shape;172;p6"/>
          <p:cNvPicPr preferRelativeResize="0"/>
          <p:nvPr/>
        </p:nvPicPr>
        <p:blipFill>
          <a:blip r:embed="rId6">
            <a:alphaModFix/>
          </a:blip>
          <a:stretch>
            <a:fillRect/>
          </a:stretch>
        </p:blipFill>
        <p:spPr>
          <a:xfrm>
            <a:off x="6172200" y="1691600"/>
            <a:ext cx="5349300" cy="2331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p7"/>
          <p:cNvSpPr/>
          <p:nvPr/>
        </p:nvSpPr>
        <p:spPr>
          <a:xfrm>
            <a:off x="-914400" y="-914400"/>
            <a:ext cx="2194500" cy="2194500"/>
          </a:xfrm>
          <a:prstGeom prst="ellipse">
            <a:avLst/>
          </a:prstGeom>
          <a:solidFill>
            <a:srgbClr val="F2F2F2"/>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79" name="Google Shape;179;p7"/>
          <p:cNvPicPr preferRelativeResize="0"/>
          <p:nvPr/>
        </p:nvPicPr>
        <p:blipFill rotWithShape="1">
          <a:blip r:embed="rId3">
            <a:alphaModFix/>
          </a:blip>
          <a:srcRect b="0" l="0" r="0" t="0"/>
          <a:stretch/>
        </p:blipFill>
        <p:spPr>
          <a:xfrm>
            <a:off x="640080" y="457200"/>
            <a:ext cx="384048" cy="384048"/>
          </a:xfrm>
          <a:prstGeom prst="rect">
            <a:avLst/>
          </a:prstGeom>
          <a:noFill/>
          <a:ln>
            <a:noFill/>
          </a:ln>
        </p:spPr>
      </p:pic>
      <p:sp>
        <p:nvSpPr>
          <p:cNvPr id="180" name="Google Shape;180;p7"/>
          <p:cNvSpPr/>
          <p:nvPr/>
        </p:nvSpPr>
        <p:spPr>
          <a:xfrm>
            <a:off x="1143000" y="475488"/>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alibri"/>
              <a:buNone/>
            </a:pPr>
            <a:r>
              <a:rPr b="1" i="0" lang="en-US" sz="1250" u="none" cap="none" strike="noStrike">
                <a:solidFill>
                  <a:srgbClr val="6B7680"/>
                </a:solidFill>
                <a:latin typeface="Calibri"/>
                <a:ea typeface="Calibri"/>
                <a:cs typeface="Calibri"/>
                <a:sym typeface="Calibri"/>
              </a:rPr>
              <a:t>BLOQUE 3 · ORGANIZACIÓN DEL CÓDIGO</a:t>
            </a:r>
            <a:endParaRPr b="0" i="0" sz="1250" u="none" cap="none" strike="noStrike">
              <a:solidFill>
                <a:schemeClr val="dk1"/>
              </a:solidFill>
              <a:latin typeface="Calibri"/>
              <a:ea typeface="Calibri"/>
              <a:cs typeface="Calibri"/>
              <a:sym typeface="Calibri"/>
            </a:endParaRPr>
          </a:p>
        </p:txBody>
      </p:sp>
      <p:sp>
        <p:nvSpPr>
          <p:cNvPr id="181" name="Google Shape;181;p7"/>
          <p:cNvSpPr/>
          <p:nvPr/>
        </p:nvSpPr>
        <p:spPr>
          <a:xfrm>
            <a:off x="640080" y="868680"/>
            <a:ext cx="105156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2700"/>
              <a:buFont typeface="Cambria"/>
              <a:buNone/>
            </a:pPr>
            <a:r>
              <a:rPr b="1" i="0" lang="en-US" sz="2700" u="none" cap="none" strike="noStrike">
                <a:solidFill>
                  <a:srgbClr val="36454F"/>
                </a:solidFill>
                <a:latin typeface="Cambria"/>
                <a:ea typeface="Cambria"/>
                <a:cs typeface="Cambria"/>
                <a:sym typeface="Cambria"/>
              </a:rPr>
              <a:t>De un archivo monolítico a módulos separados</a:t>
            </a:r>
            <a:endParaRPr b="0" i="0" sz="2700" u="none" cap="none" strike="noStrike">
              <a:solidFill>
                <a:schemeClr val="dk1"/>
              </a:solidFill>
              <a:latin typeface="Calibri"/>
              <a:ea typeface="Calibri"/>
              <a:cs typeface="Calibri"/>
              <a:sym typeface="Calibri"/>
            </a:endParaRPr>
          </a:p>
        </p:txBody>
      </p:sp>
      <p:sp>
        <p:nvSpPr>
          <p:cNvPr id="182" name="Google Shape;182;p7"/>
          <p:cNvSpPr/>
          <p:nvPr/>
        </p:nvSpPr>
        <p:spPr>
          <a:xfrm>
            <a:off x="640080" y="1691640"/>
            <a:ext cx="5120700" cy="4160400"/>
          </a:xfrm>
          <a:prstGeom prst="roundRect">
            <a:avLst>
              <a:gd fmla="val 1758" name="adj"/>
            </a:avLst>
          </a:prstGeom>
          <a:solidFill>
            <a:srgbClr val="FBEAE8"/>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83" name="Google Shape;183;p7"/>
          <p:cNvPicPr preferRelativeResize="0"/>
          <p:nvPr/>
        </p:nvPicPr>
        <p:blipFill rotWithShape="1">
          <a:blip r:embed="rId4">
            <a:alphaModFix/>
          </a:blip>
          <a:srcRect b="0" l="0" r="0" t="0"/>
          <a:stretch/>
        </p:blipFill>
        <p:spPr>
          <a:xfrm>
            <a:off x="914400" y="1920240"/>
            <a:ext cx="384048" cy="384048"/>
          </a:xfrm>
          <a:prstGeom prst="rect">
            <a:avLst/>
          </a:prstGeom>
          <a:noFill/>
          <a:ln>
            <a:noFill/>
          </a:ln>
        </p:spPr>
      </p:pic>
      <p:sp>
        <p:nvSpPr>
          <p:cNvPr id="184" name="Google Shape;184;p7"/>
          <p:cNvSpPr/>
          <p:nvPr/>
        </p:nvSpPr>
        <p:spPr>
          <a:xfrm>
            <a:off x="1417320" y="1947672"/>
            <a:ext cx="4114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0392B"/>
              </a:buClr>
              <a:buSzPts val="1600"/>
              <a:buFont typeface="Cambria"/>
              <a:buNone/>
            </a:pPr>
            <a:r>
              <a:rPr b="1" i="0" lang="en-US" sz="1600" u="none" cap="none" strike="noStrike">
                <a:solidFill>
                  <a:srgbClr val="C0392B"/>
                </a:solidFill>
                <a:latin typeface="Cambria"/>
                <a:ea typeface="Cambria"/>
                <a:cs typeface="Cambria"/>
                <a:sym typeface="Cambria"/>
              </a:rPr>
              <a:t>Versión 1 — un solo archivo</a:t>
            </a:r>
            <a:endParaRPr b="0" i="0" sz="1600" u="none" cap="none" strike="noStrike">
              <a:solidFill>
                <a:schemeClr val="dk1"/>
              </a:solidFill>
              <a:latin typeface="Calibri"/>
              <a:ea typeface="Calibri"/>
              <a:cs typeface="Calibri"/>
              <a:sym typeface="Calibri"/>
            </a:endParaRPr>
          </a:p>
        </p:txBody>
      </p:sp>
      <p:sp>
        <p:nvSpPr>
          <p:cNvPr id="185" name="Google Shape;185;p7"/>
          <p:cNvSpPr/>
          <p:nvPr/>
        </p:nvSpPr>
        <p:spPr>
          <a:xfrm>
            <a:off x="914400" y="2514600"/>
            <a:ext cx="4572000" cy="502800"/>
          </a:xfrm>
          <a:prstGeom prst="roundRect">
            <a:avLst>
              <a:gd fmla="val 10909" name="adj"/>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86" name="Google Shape;186;p7"/>
          <p:cNvSpPr/>
          <p:nvPr/>
        </p:nvSpPr>
        <p:spPr>
          <a:xfrm>
            <a:off x="1097280" y="2514600"/>
            <a:ext cx="42063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1350"/>
              <a:buFont typeface="Courier New"/>
              <a:buNone/>
            </a:pPr>
            <a:r>
              <a:rPr b="0" i="0" lang="en-US" sz="1350" u="none" cap="none" strike="noStrike">
                <a:solidFill>
                  <a:srgbClr val="36454F"/>
                </a:solidFill>
                <a:latin typeface="Courier New"/>
                <a:ea typeface="Courier New"/>
                <a:cs typeface="Courier New"/>
                <a:sym typeface="Courier New"/>
              </a:rPr>
              <a:t>V.1.py</a:t>
            </a:r>
            <a:endParaRPr b="0" i="0" sz="1350" u="none" cap="none" strike="noStrike">
              <a:solidFill>
                <a:schemeClr val="dk1"/>
              </a:solidFill>
              <a:latin typeface="Calibri"/>
              <a:ea typeface="Calibri"/>
              <a:cs typeface="Calibri"/>
              <a:sym typeface="Calibri"/>
            </a:endParaRPr>
          </a:p>
        </p:txBody>
      </p:sp>
      <p:sp>
        <p:nvSpPr>
          <p:cNvPr id="187" name="Google Shape;187;p7"/>
          <p:cNvSpPr/>
          <p:nvPr/>
        </p:nvSpPr>
        <p:spPr>
          <a:xfrm>
            <a:off x="914400" y="3200400"/>
            <a:ext cx="45720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3A34"/>
              </a:buClr>
              <a:buSzPts val="1250"/>
              <a:buFont typeface="Calibri"/>
              <a:buNone/>
            </a:pPr>
            <a:r>
              <a:rPr b="0" i="0" lang="en-US" sz="1250" u="none" cap="none" strike="noStrike">
                <a:solidFill>
                  <a:srgbClr val="6E3A34"/>
                </a:solidFill>
                <a:latin typeface="Calibri"/>
                <a:ea typeface="Calibri"/>
                <a:cs typeface="Calibri"/>
                <a:sym typeface="Calibri"/>
              </a:rPr>
              <a:t>Login, validaciones, menú y toda la lógica de negocio mezclados de principio a fin en el mismo archivo.</a:t>
            </a:r>
            <a:endParaRPr b="0" i="0" sz="1250" u="none" cap="none" strike="noStrike">
              <a:solidFill>
                <a:schemeClr val="dk1"/>
              </a:solidFill>
              <a:latin typeface="Calibri"/>
              <a:ea typeface="Calibri"/>
              <a:cs typeface="Calibri"/>
              <a:sym typeface="Calibri"/>
            </a:endParaRPr>
          </a:p>
        </p:txBody>
      </p:sp>
      <p:sp>
        <p:nvSpPr>
          <p:cNvPr id="188" name="Google Shape;188;p7"/>
          <p:cNvSpPr/>
          <p:nvPr/>
        </p:nvSpPr>
        <p:spPr>
          <a:xfrm>
            <a:off x="914400" y="4023360"/>
            <a:ext cx="45720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E3A34"/>
              </a:buClr>
              <a:buSzPts val="1250"/>
              <a:buFont typeface="Calibri"/>
              <a:buNone/>
            </a:pPr>
            <a:r>
              <a:rPr b="0" i="1" lang="en-US" sz="1250" u="none" cap="none" strike="noStrike">
                <a:solidFill>
                  <a:srgbClr val="6E3A34"/>
                </a:solidFill>
                <a:latin typeface="Calibri"/>
                <a:ea typeface="Calibri"/>
                <a:cs typeface="Calibri"/>
                <a:sym typeface="Calibri"/>
              </a:rPr>
              <a:t>Si algo falla, hay que revisar un archivo completo donde se mezclan cosas muy distintas entre sí.</a:t>
            </a:r>
            <a:endParaRPr b="0" i="0" sz="1250" u="none" cap="none" strike="noStrike">
              <a:solidFill>
                <a:schemeClr val="dk1"/>
              </a:solidFill>
              <a:latin typeface="Calibri"/>
              <a:ea typeface="Calibri"/>
              <a:cs typeface="Calibri"/>
              <a:sym typeface="Calibri"/>
            </a:endParaRPr>
          </a:p>
        </p:txBody>
      </p:sp>
      <p:sp>
        <p:nvSpPr>
          <p:cNvPr id="189" name="Google Shape;189;p7"/>
          <p:cNvSpPr/>
          <p:nvPr/>
        </p:nvSpPr>
        <p:spPr>
          <a:xfrm>
            <a:off x="914400" y="4892040"/>
            <a:ext cx="4572000" cy="868800"/>
          </a:xfrm>
          <a:prstGeom prst="roundRect">
            <a:avLst>
              <a:gd fmla="val 8421" name="adj"/>
            </a:avLst>
          </a:prstGeom>
          <a:solidFill>
            <a:srgbClr val="FFFFFF"/>
          </a:solidFill>
          <a:ln cap="flat" cmpd="sng" w="19050">
            <a:solidFill>
              <a:srgbClr val="B9C0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90" name="Google Shape;190;p7"/>
          <p:cNvPicPr preferRelativeResize="0"/>
          <p:nvPr/>
        </p:nvPicPr>
        <p:blipFill rotWithShape="1">
          <a:blip r:embed="rId3">
            <a:alphaModFix/>
          </a:blip>
          <a:srcRect b="0" l="0" r="0" t="0"/>
          <a:stretch/>
        </p:blipFill>
        <p:spPr>
          <a:xfrm>
            <a:off x="1115568" y="5074920"/>
            <a:ext cx="310896" cy="310896"/>
          </a:xfrm>
          <a:prstGeom prst="rect">
            <a:avLst/>
          </a:prstGeom>
          <a:noFill/>
          <a:ln>
            <a:noFill/>
          </a:ln>
        </p:spPr>
      </p:pic>
      <p:sp>
        <p:nvSpPr>
          <p:cNvPr id="191" name="Google Shape;191;p7"/>
          <p:cNvSpPr/>
          <p:nvPr/>
        </p:nvSpPr>
        <p:spPr>
          <a:xfrm>
            <a:off x="1508760" y="5047488"/>
            <a:ext cx="3749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ourier New"/>
              <a:buNone/>
            </a:pPr>
            <a:r>
              <a:rPr b="0" i="0" lang="en-US" sz="1250" u="none" cap="none" strike="noStrike">
                <a:solidFill>
                  <a:srgbClr val="6B7680"/>
                </a:solidFill>
                <a:latin typeface="Courier New"/>
                <a:ea typeface="Courier New"/>
                <a:cs typeface="Courier New"/>
                <a:sym typeface="Courier New"/>
              </a:rPr>
              <a:t>Vista de carpeta — V.1</a:t>
            </a:r>
            <a:endParaRPr b="0" i="0" sz="1250" u="none" cap="none" strike="noStrike">
              <a:solidFill>
                <a:schemeClr val="dk1"/>
              </a:solidFill>
              <a:latin typeface="Calibri"/>
              <a:ea typeface="Calibri"/>
              <a:cs typeface="Calibri"/>
              <a:sym typeface="Calibri"/>
            </a:endParaRPr>
          </a:p>
        </p:txBody>
      </p:sp>
      <p:sp>
        <p:nvSpPr>
          <p:cNvPr id="192" name="Google Shape;192;p7"/>
          <p:cNvSpPr/>
          <p:nvPr/>
        </p:nvSpPr>
        <p:spPr>
          <a:xfrm>
            <a:off x="1188720" y="4914900"/>
            <a:ext cx="40233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Captura: estructura de carpetas V.1</a:t>
            </a:r>
            <a:endParaRPr b="0" i="0" sz="1300" u="none" cap="none" strike="noStrike">
              <a:solidFill>
                <a:schemeClr val="dk1"/>
              </a:solidFill>
              <a:latin typeface="Calibri"/>
              <a:ea typeface="Calibri"/>
              <a:cs typeface="Calibri"/>
              <a:sym typeface="Calibri"/>
            </a:endParaRPr>
          </a:p>
        </p:txBody>
      </p:sp>
      <p:sp>
        <p:nvSpPr>
          <p:cNvPr id="193" name="Google Shape;193;p7"/>
          <p:cNvSpPr/>
          <p:nvPr/>
        </p:nvSpPr>
        <p:spPr>
          <a:xfrm>
            <a:off x="5989320" y="1691640"/>
            <a:ext cx="5120700" cy="4160400"/>
          </a:xfrm>
          <a:prstGeom prst="roundRect">
            <a:avLst>
              <a:gd fmla="val 1758" name="adj"/>
            </a:avLst>
          </a:prstGeom>
          <a:solidFill>
            <a:srgbClr val="E6F4F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194" name="Google Shape;194;p7"/>
          <p:cNvPicPr preferRelativeResize="0"/>
          <p:nvPr/>
        </p:nvPicPr>
        <p:blipFill rotWithShape="1">
          <a:blip r:embed="rId5">
            <a:alphaModFix/>
          </a:blip>
          <a:srcRect b="0" l="0" r="0" t="0"/>
          <a:stretch/>
        </p:blipFill>
        <p:spPr>
          <a:xfrm>
            <a:off x="6263640" y="1920240"/>
            <a:ext cx="384048" cy="384048"/>
          </a:xfrm>
          <a:prstGeom prst="rect">
            <a:avLst/>
          </a:prstGeom>
          <a:noFill/>
          <a:ln>
            <a:noFill/>
          </a:ln>
        </p:spPr>
      </p:pic>
      <p:sp>
        <p:nvSpPr>
          <p:cNvPr id="195" name="Google Shape;195;p7"/>
          <p:cNvSpPr/>
          <p:nvPr/>
        </p:nvSpPr>
        <p:spPr>
          <a:xfrm>
            <a:off x="6766560" y="1947672"/>
            <a:ext cx="41148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E8C74"/>
              </a:buClr>
              <a:buSzPts val="1600"/>
              <a:buFont typeface="Cambria"/>
              <a:buNone/>
            </a:pPr>
            <a:r>
              <a:rPr b="1" i="0" lang="en-US" sz="1600" u="none" cap="none" strike="noStrike">
                <a:solidFill>
                  <a:srgbClr val="0E8C74"/>
                </a:solidFill>
                <a:latin typeface="Cambria"/>
                <a:ea typeface="Cambria"/>
                <a:cs typeface="Cambria"/>
                <a:sym typeface="Cambria"/>
              </a:rPr>
              <a:t>Versión 2 — dos módulos</a:t>
            </a:r>
            <a:endParaRPr b="0" i="0" sz="1600" u="none" cap="none" strike="noStrike">
              <a:solidFill>
                <a:schemeClr val="dk1"/>
              </a:solidFill>
              <a:latin typeface="Calibri"/>
              <a:ea typeface="Calibri"/>
              <a:cs typeface="Calibri"/>
              <a:sym typeface="Calibri"/>
            </a:endParaRPr>
          </a:p>
        </p:txBody>
      </p:sp>
      <p:sp>
        <p:nvSpPr>
          <p:cNvPr id="196" name="Google Shape;196;p7"/>
          <p:cNvSpPr/>
          <p:nvPr/>
        </p:nvSpPr>
        <p:spPr>
          <a:xfrm>
            <a:off x="6263640" y="2514600"/>
            <a:ext cx="4572000" cy="502800"/>
          </a:xfrm>
          <a:prstGeom prst="roundRect">
            <a:avLst>
              <a:gd fmla="val 10909" name="adj"/>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197" name="Google Shape;197;p7"/>
          <p:cNvSpPr/>
          <p:nvPr/>
        </p:nvSpPr>
        <p:spPr>
          <a:xfrm>
            <a:off x="6446520" y="2514600"/>
            <a:ext cx="14631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1350"/>
              <a:buFont typeface="Courier New"/>
              <a:buNone/>
            </a:pPr>
            <a:r>
              <a:rPr b="0" i="0" lang="en-US" sz="1350" u="none" cap="none" strike="noStrike">
                <a:solidFill>
                  <a:srgbClr val="36454F"/>
                </a:solidFill>
                <a:latin typeface="Courier New"/>
                <a:ea typeface="Courier New"/>
                <a:cs typeface="Courier New"/>
                <a:sym typeface="Courier New"/>
              </a:rPr>
              <a:t>V.2.py</a:t>
            </a:r>
            <a:endParaRPr b="0" i="0" sz="1350" u="none" cap="none" strike="noStrike">
              <a:solidFill>
                <a:schemeClr val="dk1"/>
              </a:solidFill>
              <a:latin typeface="Calibri"/>
              <a:ea typeface="Calibri"/>
              <a:cs typeface="Calibri"/>
              <a:sym typeface="Calibri"/>
            </a:endParaRPr>
          </a:p>
        </p:txBody>
      </p:sp>
      <p:sp>
        <p:nvSpPr>
          <p:cNvPr id="198" name="Google Shape;198;p7"/>
          <p:cNvSpPr/>
          <p:nvPr/>
        </p:nvSpPr>
        <p:spPr>
          <a:xfrm>
            <a:off x="7909560" y="2514600"/>
            <a:ext cx="29262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150"/>
              <a:buFont typeface="Calibri"/>
              <a:buNone/>
            </a:pPr>
            <a:r>
              <a:rPr b="0" i="1" lang="en-US" sz="1150" u="none" cap="none" strike="noStrike">
                <a:solidFill>
                  <a:srgbClr val="6B7680"/>
                </a:solidFill>
                <a:latin typeface="Calibri"/>
                <a:ea typeface="Calibri"/>
                <a:cs typeface="Calibri"/>
                <a:sym typeface="Calibri"/>
              </a:rPr>
              <a:t>login y menú</a:t>
            </a:r>
            <a:endParaRPr b="0" i="0" sz="1150" u="none" cap="none" strike="noStrike">
              <a:solidFill>
                <a:schemeClr val="dk1"/>
              </a:solidFill>
              <a:latin typeface="Calibri"/>
              <a:ea typeface="Calibri"/>
              <a:cs typeface="Calibri"/>
              <a:sym typeface="Calibri"/>
            </a:endParaRPr>
          </a:p>
        </p:txBody>
      </p:sp>
      <p:sp>
        <p:nvSpPr>
          <p:cNvPr id="199" name="Google Shape;199;p7"/>
          <p:cNvSpPr/>
          <p:nvPr/>
        </p:nvSpPr>
        <p:spPr>
          <a:xfrm>
            <a:off x="6263640" y="3108960"/>
            <a:ext cx="4572000" cy="502800"/>
          </a:xfrm>
          <a:prstGeom prst="roundRect">
            <a:avLst>
              <a:gd fmla="val 10909" name="adj"/>
            </a:avLst>
          </a:prstGeom>
          <a:solidFill>
            <a:srgbClr val="FFFFFF"/>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sp>
        <p:nvSpPr>
          <p:cNvPr id="200" name="Google Shape;200;p7"/>
          <p:cNvSpPr/>
          <p:nvPr/>
        </p:nvSpPr>
        <p:spPr>
          <a:xfrm>
            <a:off x="6446520" y="3108960"/>
            <a:ext cx="42063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6454F"/>
              </a:buClr>
              <a:buSzPts val="1200"/>
              <a:buFont typeface="Courier New"/>
              <a:buNone/>
            </a:pPr>
            <a:r>
              <a:rPr b="0" i="0" lang="en-US" sz="1200" u="none" cap="none" strike="noStrike">
                <a:solidFill>
                  <a:srgbClr val="36454F"/>
                </a:solidFill>
                <a:latin typeface="Courier New"/>
                <a:ea typeface="Courier New"/>
                <a:cs typeface="Courier New"/>
                <a:sym typeface="Courier New"/>
              </a:rPr>
              <a:t>funciones_funeraria.py</a:t>
            </a:r>
            <a:endParaRPr b="0" i="0" sz="1200" u="none" cap="none" strike="noStrike">
              <a:solidFill>
                <a:schemeClr val="dk1"/>
              </a:solidFill>
              <a:latin typeface="Calibri"/>
              <a:ea typeface="Calibri"/>
              <a:cs typeface="Calibri"/>
              <a:sym typeface="Calibri"/>
            </a:endParaRPr>
          </a:p>
        </p:txBody>
      </p:sp>
      <p:sp>
        <p:nvSpPr>
          <p:cNvPr id="201" name="Google Shape;201;p7"/>
          <p:cNvSpPr/>
          <p:nvPr/>
        </p:nvSpPr>
        <p:spPr>
          <a:xfrm>
            <a:off x="6263640" y="370332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B41"/>
              </a:buClr>
              <a:buSzPts val="1150"/>
              <a:buFont typeface="Calibri"/>
              <a:buNone/>
            </a:pPr>
            <a:r>
              <a:rPr b="0" i="1" lang="en-US" sz="1150" u="none" cap="none" strike="noStrike">
                <a:solidFill>
                  <a:srgbClr val="1B4B41"/>
                </a:solidFill>
                <a:latin typeface="Calibri"/>
                <a:ea typeface="Calibri"/>
                <a:cs typeface="Calibri"/>
                <a:sym typeface="Calibri"/>
              </a:rPr>
              <a:t>lógica de negocio y validaciones de seguridad</a:t>
            </a:r>
            <a:endParaRPr b="0" i="0" sz="1150" u="none" cap="none" strike="noStrike">
              <a:solidFill>
                <a:schemeClr val="dk1"/>
              </a:solidFill>
              <a:latin typeface="Calibri"/>
              <a:ea typeface="Calibri"/>
              <a:cs typeface="Calibri"/>
              <a:sym typeface="Calibri"/>
            </a:endParaRPr>
          </a:p>
        </p:txBody>
      </p:sp>
      <p:sp>
        <p:nvSpPr>
          <p:cNvPr id="202" name="Google Shape;202;p7"/>
          <p:cNvSpPr/>
          <p:nvPr/>
        </p:nvSpPr>
        <p:spPr>
          <a:xfrm>
            <a:off x="6263640" y="4251960"/>
            <a:ext cx="4572000" cy="914400"/>
          </a:xfrm>
          <a:prstGeom prst="roundRect">
            <a:avLst>
              <a:gd fmla="val 8000" name="adj"/>
            </a:avLst>
          </a:prstGeom>
          <a:solidFill>
            <a:srgbClr val="FFFFFF"/>
          </a:solidFill>
          <a:ln cap="flat" cmpd="sng" w="19050">
            <a:solidFill>
              <a:srgbClr val="B9C0C6"/>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b="0" i="0" sz="1800" u="none" cap="none" strike="noStrike">
              <a:solidFill>
                <a:schemeClr val="dk1"/>
              </a:solidFill>
              <a:latin typeface="Calibri"/>
              <a:ea typeface="Calibri"/>
              <a:cs typeface="Calibri"/>
              <a:sym typeface="Calibri"/>
            </a:endParaRPr>
          </a:p>
        </p:txBody>
      </p:sp>
      <p:pic>
        <p:nvPicPr>
          <p:cNvPr descr="preencoded.png" id="203" name="Google Shape;203;p7"/>
          <p:cNvPicPr preferRelativeResize="0"/>
          <p:nvPr/>
        </p:nvPicPr>
        <p:blipFill rotWithShape="1">
          <a:blip r:embed="rId3">
            <a:alphaModFix/>
          </a:blip>
          <a:srcRect b="0" l="0" r="0" t="0"/>
          <a:stretch/>
        </p:blipFill>
        <p:spPr>
          <a:xfrm>
            <a:off x="6464808" y="4434840"/>
            <a:ext cx="310896" cy="310896"/>
          </a:xfrm>
          <a:prstGeom prst="rect">
            <a:avLst/>
          </a:prstGeom>
          <a:noFill/>
          <a:ln>
            <a:noFill/>
          </a:ln>
        </p:spPr>
      </p:pic>
      <p:sp>
        <p:nvSpPr>
          <p:cNvPr id="204" name="Google Shape;204;p7"/>
          <p:cNvSpPr/>
          <p:nvPr/>
        </p:nvSpPr>
        <p:spPr>
          <a:xfrm>
            <a:off x="6858000" y="4407408"/>
            <a:ext cx="37491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1250"/>
              <a:buFont typeface="Courier New"/>
              <a:buNone/>
            </a:pPr>
            <a:r>
              <a:rPr b="0" i="0" lang="en-US" sz="1250" u="none" cap="none" strike="noStrike">
                <a:solidFill>
                  <a:srgbClr val="6B7680"/>
                </a:solidFill>
                <a:latin typeface="Courier New"/>
                <a:ea typeface="Courier New"/>
                <a:cs typeface="Courier New"/>
                <a:sym typeface="Courier New"/>
              </a:rPr>
              <a:t>V.2.py — líneas 58-66</a:t>
            </a:r>
            <a:endParaRPr b="0" i="0" sz="1250" u="none" cap="none" strike="noStrike">
              <a:solidFill>
                <a:schemeClr val="dk1"/>
              </a:solidFill>
              <a:latin typeface="Calibri"/>
              <a:ea typeface="Calibri"/>
              <a:cs typeface="Calibri"/>
              <a:sym typeface="Calibri"/>
            </a:endParaRPr>
          </a:p>
        </p:txBody>
      </p:sp>
      <p:sp>
        <p:nvSpPr>
          <p:cNvPr id="205" name="Google Shape;205;p7"/>
          <p:cNvSpPr/>
          <p:nvPr/>
        </p:nvSpPr>
        <p:spPr>
          <a:xfrm>
            <a:off x="6537960" y="4297680"/>
            <a:ext cx="4023300" cy="822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Captura: llamadas a</a:t>
            </a:r>
            <a:endParaRPr b="0" i="0" sz="13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9AA3AB"/>
              </a:buClr>
              <a:buSzPts val="1300"/>
              <a:buFont typeface="Calibri"/>
              <a:buNone/>
            </a:pPr>
            <a:r>
              <a:rPr b="0" i="1" lang="en-US" sz="1300" u="none" cap="none" strike="noStrike">
                <a:solidFill>
                  <a:srgbClr val="9AA3AB"/>
                </a:solidFill>
                <a:latin typeface="Calibri"/>
                <a:ea typeface="Calibri"/>
                <a:cs typeface="Calibri"/>
                <a:sym typeface="Calibri"/>
              </a:rPr>
              <a:t>funciones_funeraria.*</a:t>
            </a:r>
            <a:endParaRPr b="0" i="0" sz="1300" u="none" cap="none" strike="noStrike">
              <a:solidFill>
                <a:schemeClr val="dk1"/>
              </a:solidFill>
              <a:latin typeface="Calibri"/>
              <a:ea typeface="Calibri"/>
              <a:cs typeface="Calibri"/>
              <a:sym typeface="Calibri"/>
            </a:endParaRPr>
          </a:p>
        </p:txBody>
      </p:sp>
      <p:sp>
        <p:nvSpPr>
          <p:cNvPr id="206" name="Google Shape;206;p7"/>
          <p:cNvSpPr/>
          <p:nvPr/>
        </p:nvSpPr>
        <p:spPr>
          <a:xfrm>
            <a:off x="6263640" y="5257800"/>
            <a:ext cx="45720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4B41"/>
              </a:buClr>
              <a:buSzPts val="1150"/>
              <a:buFont typeface="Calibri"/>
              <a:buNone/>
            </a:pPr>
            <a:r>
              <a:rPr b="0" i="1" lang="en-US" sz="1150" u="none" cap="none" strike="noStrike">
                <a:solidFill>
                  <a:srgbClr val="1B4B41"/>
                </a:solidFill>
                <a:latin typeface="Calibri"/>
                <a:ea typeface="Calibri"/>
                <a:cs typeface="Calibri"/>
                <a:sym typeface="Calibri"/>
              </a:rPr>
              <a:t>Separación de responsabilidades: cada archivo hace una sola cosa, lo que facilita auditar la seguridad revisando solo funciones_funeraria.py.</a:t>
            </a:r>
            <a:endParaRPr b="0" i="0" sz="1150" u="none" cap="none" strike="noStrike">
              <a:solidFill>
                <a:schemeClr val="dk1"/>
              </a:solidFill>
              <a:latin typeface="Calibri"/>
              <a:ea typeface="Calibri"/>
              <a:cs typeface="Calibri"/>
              <a:sym typeface="Calibri"/>
            </a:endParaRPr>
          </a:p>
        </p:txBody>
      </p:sp>
      <p:sp>
        <p:nvSpPr>
          <p:cNvPr id="207" name="Google Shape;207;p7"/>
          <p:cNvSpPr/>
          <p:nvPr/>
        </p:nvSpPr>
        <p:spPr>
          <a:xfrm>
            <a:off x="457200" y="6473952"/>
            <a:ext cx="7772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Sistema de Gestión Funeraria · Introducción a la Programación Segura</a:t>
            </a:r>
            <a:endParaRPr b="0" i="0" sz="950" u="none" cap="none" strike="noStrike">
              <a:solidFill>
                <a:schemeClr val="dk1"/>
              </a:solidFill>
              <a:latin typeface="Calibri"/>
              <a:ea typeface="Calibri"/>
              <a:cs typeface="Calibri"/>
              <a:sym typeface="Calibri"/>
            </a:endParaRPr>
          </a:p>
        </p:txBody>
      </p:sp>
      <p:sp>
        <p:nvSpPr>
          <p:cNvPr id="208" name="Google Shape;208;p7"/>
          <p:cNvSpPr/>
          <p:nvPr/>
        </p:nvSpPr>
        <p:spPr>
          <a:xfrm>
            <a:off x="10362895" y="6473952"/>
            <a:ext cx="13716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7680"/>
              </a:buClr>
              <a:buSzPts val="950"/>
              <a:buFont typeface="Calibri"/>
              <a:buNone/>
            </a:pPr>
            <a:r>
              <a:rPr b="0" i="0" lang="en-US" sz="950" u="none" cap="none" strike="noStrike">
                <a:solidFill>
                  <a:srgbClr val="6B7680"/>
                </a:solidFill>
                <a:latin typeface="Calibri"/>
                <a:ea typeface="Calibri"/>
                <a:cs typeface="Calibri"/>
                <a:sym typeface="Calibri"/>
              </a:rPr>
              <a:t>7</a:t>
            </a:r>
            <a:endParaRPr b="0" i="0" sz="950" u="none" cap="none" strike="noStrike">
              <a:solidFill>
                <a:schemeClr val="dk1"/>
              </a:solidFill>
              <a:latin typeface="Calibri"/>
              <a:ea typeface="Calibri"/>
              <a:cs typeface="Calibri"/>
              <a:sym typeface="Calibri"/>
            </a:endParaRPr>
          </a:p>
        </p:txBody>
      </p:sp>
      <p:pic>
        <p:nvPicPr>
          <p:cNvPr id="209" name="Google Shape;209;p7"/>
          <p:cNvPicPr preferRelativeResize="0"/>
          <p:nvPr/>
        </p:nvPicPr>
        <p:blipFill rotWithShape="1">
          <a:blip r:embed="rId6">
            <a:alphaModFix/>
          </a:blip>
          <a:srcRect b="0" l="0" r="0" t="0"/>
          <a:stretch/>
        </p:blipFill>
        <p:spPr>
          <a:xfrm>
            <a:off x="5989324" y="4219725"/>
            <a:ext cx="5120622" cy="1052012"/>
          </a:xfrm>
          <a:prstGeom prst="rect">
            <a:avLst/>
          </a:prstGeom>
          <a:noFill/>
          <a:ln>
            <a:noFill/>
          </a:ln>
        </p:spPr>
      </p:pic>
      <p:pic>
        <p:nvPicPr>
          <p:cNvPr id="210" name="Google Shape;210;p7"/>
          <p:cNvPicPr preferRelativeResize="0"/>
          <p:nvPr/>
        </p:nvPicPr>
        <p:blipFill rotWithShape="1">
          <a:blip r:embed="rId7">
            <a:alphaModFix/>
          </a:blip>
          <a:srcRect b="0" l="0" r="0" t="0"/>
          <a:stretch/>
        </p:blipFill>
        <p:spPr>
          <a:xfrm>
            <a:off x="840350" y="4745738"/>
            <a:ext cx="4720076" cy="914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6454F"/>
        </a:solidFill>
      </p:bgPr>
    </p:bg>
    <p:spTree>
      <p:nvGrpSpPr>
        <p:cNvPr id="215" name="Shape 215"/>
        <p:cNvGrpSpPr/>
        <p:nvPr/>
      </p:nvGrpSpPr>
      <p:grpSpPr>
        <a:xfrm>
          <a:off x="0" y="0"/>
          <a:ext cx="0" cy="0"/>
          <a:chOff x="0" y="0"/>
          <a:chExt cx="0" cy="0"/>
        </a:xfrm>
      </p:grpSpPr>
      <p:sp>
        <p:nvSpPr>
          <p:cNvPr id="216" name="Google Shape;216;p8"/>
          <p:cNvSpPr/>
          <p:nvPr/>
        </p:nvSpPr>
        <p:spPr>
          <a:xfrm>
            <a:off x="-2286000" y="4114800"/>
            <a:ext cx="6400800" cy="6400800"/>
          </a:xfrm>
          <a:prstGeom prst="ellipse">
            <a:avLst/>
          </a:prstGeom>
          <a:solidFill>
            <a:srgbClr val="252F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7" name="Google Shape;217;p8"/>
          <p:cNvPicPr preferRelativeResize="0"/>
          <p:nvPr/>
        </p:nvPicPr>
        <p:blipFill rotWithShape="1">
          <a:blip r:embed="rId3">
            <a:alphaModFix/>
          </a:blip>
          <a:srcRect b="0" l="0" r="0" t="0"/>
          <a:stretch/>
        </p:blipFill>
        <p:spPr>
          <a:xfrm>
            <a:off x="777240" y="594360"/>
            <a:ext cx="411480" cy="411480"/>
          </a:xfrm>
          <a:prstGeom prst="rect">
            <a:avLst/>
          </a:prstGeom>
          <a:noFill/>
          <a:ln>
            <a:noFill/>
          </a:ln>
        </p:spPr>
      </p:pic>
      <p:sp>
        <p:nvSpPr>
          <p:cNvPr id="218" name="Google Shape;218;p8"/>
          <p:cNvSpPr/>
          <p:nvPr/>
        </p:nvSpPr>
        <p:spPr>
          <a:xfrm>
            <a:off x="1280160" y="621792"/>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D2D8"/>
              </a:buClr>
              <a:buSzPts val="1300"/>
              <a:buFont typeface="Calibri"/>
              <a:buNone/>
            </a:pPr>
            <a:r>
              <a:rPr b="1" i="0" lang="en-US" sz="1300" u="none" cap="none" strike="noStrike">
                <a:solidFill>
                  <a:srgbClr val="C9D2D8"/>
                </a:solidFill>
                <a:latin typeface="Calibri"/>
                <a:ea typeface="Calibri"/>
                <a:cs typeface="Calibri"/>
                <a:sym typeface="Calibri"/>
              </a:rPr>
              <a:t>CIERRE</a:t>
            </a:r>
            <a:endParaRPr b="0" i="0" sz="1300" u="none" cap="none" strike="noStrike">
              <a:solidFill>
                <a:schemeClr val="dk1"/>
              </a:solidFill>
              <a:latin typeface="Calibri"/>
              <a:ea typeface="Calibri"/>
              <a:cs typeface="Calibri"/>
              <a:sym typeface="Calibri"/>
            </a:endParaRPr>
          </a:p>
        </p:txBody>
      </p:sp>
      <p:sp>
        <p:nvSpPr>
          <p:cNvPr id="219" name="Google Shape;219;p8"/>
          <p:cNvSpPr/>
          <p:nvPr/>
        </p:nvSpPr>
        <p:spPr>
          <a:xfrm>
            <a:off x="777240" y="1051560"/>
            <a:ext cx="100584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mbria"/>
              <a:buNone/>
            </a:pPr>
            <a:r>
              <a:rPr b="1" i="0" lang="en-US" sz="2800" u="none" cap="none" strike="noStrike">
                <a:solidFill>
                  <a:srgbClr val="FFFFFF"/>
                </a:solidFill>
                <a:latin typeface="Cambria"/>
                <a:ea typeface="Cambria"/>
                <a:cs typeface="Cambria"/>
                <a:sym typeface="Cambria"/>
              </a:rPr>
              <a:t>Misma funcionalidad. Tres mejoras concretas.</a:t>
            </a:r>
            <a:endParaRPr b="0" i="0" sz="2800" u="none" cap="none" strike="noStrike">
              <a:solidFill>
                <a:schemeClr val="dk1"/>
              </a:solidFill>
              <a:latin typeface="Calibri"/>
              <a:ea typeface="Calibri"/>
              <a:cs typeface="Calibri"/>
              <a:sym typeface="Calibri"/>
            </a:endParaRPr>
          </a:p>
        </p:txBody>
      </p:sp>
      <p:sp>
        <p:nvSpPr>
          <p:cNvPr id="220" name="Google Shape;220;p8"/>
          <p:cNvSpPr/>
          <p:nvPr/>
        </p:nvSpPr>
        <p:spPr>
          <a:xfrm>
            <a:off x="777240" y="1965960"/>
            <a:ext cx="3429000" cy="1828800"/>
          </a:xfrm>
          <a:prstGeom prst="roundRect">
            <a:avLst>
              <a:gd fmla="val 4500" name="adj"/>
            </a:avLst>
          </a:prstGeom>
          <a:solidFill>
            <a:srgbClr val="252F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1005840" y="2103120"/>
            <a:ext cx="822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4A6"/>
              </a:buClr>
              <a:buSzPts val="3000"/>
              <a:buFont typeface="Cambria"/>
              <a:buNone/>
            </a:pPr>
            <a:r>
              <a:rPr b="1" i="0" lang="en-US" sz="3000" u="none" cap="none" strike="noStrike">
                <a:solidFill>
                  <a:srgbClr val="5B94A6"/>
                </a:solidFill>
                <a:latin typeface="Cambria"/>
                <a:ea typeface="Cambria"/>
                <a:cs typeface="Cambria"/>
                <a:sym typeface="Cambria"/>
              </a:rPr>
              <a:t>1</a:t>
            </a:r>
            <a:endParaRPr b="0" i="0" sz="3000" u="none" cap="none" strike="noStrike">
              <a:solidFill>
                <a:schemeClr val="dk1"/>
              </a:solidFill>
              <a:latin typeface="Calibri"/>
              <a:ea typeface="Calibri"/>
              <a:cs typeface="Calibri"/>
              <a:sym typeface="Calibri"/>
            </a:endParaRPr>
          </a:p>
        </p:txBody>
      </p:sp>
      <p:sp>
        <p:nvSpPr>
          <p:cNvPr id="222" name="Google Shape;222;p8"/>
          <p:cNvSpPr/>
          <p:nvPr/>
        </p:nvSpPr>
        <p:spPr>
          <a:xfrm>
            <a:off x="1005840" y="2743200"/>
            <a:ext cx="2971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mbria"/>
              <a:buNone/>
            </a:pPr>
            <a:r>
              <a:rPr b="1" i="0" lang="en-US" sz="1450" u="none" cap="none" strike="noStrike">
                <a:solidFill>
                  <a:srgbClr val="FFFFFF"/>
                </a:solidFill>
                <a:latin typeface="Cambria"/>
                <a:ea typeface="Cambria"/>
                <a:cs typeface="Cambria"/>
                <a:sym typeface="Cambria"/>
              </a:rPr>
              <a:t>Control de acceso por roles</a:t>
            </a:r>
            <a:endParaRPr b="0" i="0" sz="1450" u="none" cap="none" strike="noStrike">
              <a:solidFill>
                <a:schemeClr val="dk1"/>
              </a:solidFill>
              <a:latin typeface="Calibri"/>
              <a:ea typeface="Calibri"/>
              <a:cs typeface="Calibri"/>
              <a:sym typeface="Calibri"/>
            </a:endParaRPr>
          </a:p>
        </p:txBody>
      </p:sp>
      <p:sp>
        <p:nvSpPr>
          <p:cNvPr id="223" name="Google Shape;223;p8"/>
          <p:cNvSpPr/>
          <p:nvPr/>
        </p:nvSpPr>
        <p:spPr>
          <a:xfrm>
            <a:off x="1005840" y="3227832"/>
            <a:ext cx="2971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0C6"/>
              </a:buClr>
              <a:buSzPts val="1150"/>
              <a:buFont typeface="Calibri"/>
              <a:buNone/>
            </a:pPr>
            <a:r>
              <a:rPr b="0" i="0" lang="en-US" sz="1150" u="none" cap="none" strike="noStrike">
                <a:solidFill>
                  <a:srgbClr val="B7C0C6"/>
                </a:solidFill>
                <a:latin typeface="Calibri"/>
                <a:ea typeface="Calibri"/>
                <a:cs typeface="Calibri"/>
                <a:sym typeface="Calibri"/>
              </a:rPr>
              <a:t>Aplicando el principio de mínimo privilegio.</a:t>
            </a:r>
            <a:endParaRPr b="0" i="0" sz="1150" u="none" cap="none" strike="noStrike">
              <a:solidFill>
                <a:schemeClr val="dk1"/>
              </a:solidFill>
              <a:latin typeface="Calibri"/>
              <a:ea typeface="Calibri"/>
              <a:cs typeface="Calibri"/>
              <a:sym typeface="Calibri"/>
            </a:endParaRPr>
          </a:p>
        </p:txBody>
      </p:sp>
      <p:sp>
        <p:nvSpPr>
          <p:cNvPr id="224" name="Google Shape;224;p8"/>
          <p:cNvSpPr/>
          <p:nvPr/>
        </p:nvSpPr>
        <p:spPr>
          <a:xfrm>
            <a:off x="4462272" y="1965960"/>
            <a:ext cx="3429000" cy="1828800"/>
          </a:xfrm>
          <a:prstGeom prst="roundRect">
            <a:avLst>
              <a:gd fmla="val 4500" name="adj"/>
            </a:avLst>
          </a:prstGeom>
          <a:solidFill>
            <a:srgbClr val="252F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4690872" y="2103120"/>
            <a:ext cx="822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4A6"/>
              </a:buClr>
              <a:buSzPts val="3000"/>
              <a:buFont typeface="Cambria"/>
              <a:buNone/>
            </a:pPr>
            <a:r>
              <a:rPr b="1" i="0" lang="en-US" sz="3000" u="none" cap="none" strike="noStrike">
                <a:solidFill>
                  <a:srgbClr val="5B94A6"/>
                </a:solidFill>
                <a:latin typeface="Cambria"/>
                <a:ea typeface="Cambria"/>
                <a:cs typeface="Cambria"/>
                <a:sym typeface="Cambria"/>
              </a:rPr>
              <a:t>2</a:t>
            </a:r>
            <a:endParaRPr b="0" i="0" sz="3000" u="none" cap="none" strike="noStrike">
              <a:solidFill>
                <a:schemeClr val="dk1"/>
              </a:solidFill>
              <a:latin typeface="Calibri"/>
              <a:ea typeface="Calibri"/>
              <a:cs typeface="Calibri"/>
              <a:sym typeface="Calibri"/>
            </a:endParaRPr>
          </a:p>
        </p:txBody>
      </p:sp>
      <p:sp>
        <p:nvSpPr>
          <p:cNvPr id="226" name="Google Shape;226;p8"/>
          <p:cNvSpPr/>
          <p:nvPr/>
        </p:nvSpPr>
        <p:spPr>
          <a:xfrm>
            <a:off x="4690872" y="2743200"/>
            <a:ext cx="2971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mbria"/>
              <a:buNone/>
            </a:pPr>
            <a:r>
              <a:rPr b="1" i="0" lang="en-US" sz="1450" u="none" cap="none" strike="noStrike">
                <a:solidFill>
                  <a:srgbClr val="FFFFFF"/>
                </a:solidFill>
                <a:latin typeface="Cambria"/>
                <a:ea typeface="Cambria"/>
                <a:cs typeface="Cambria"/>
                <a:sym typeface="Cambria"/>
              </a:rPr>
              <a:t>Validación centralizada y estricta</a:t>
            </a:r>
            <a:endParaRPr b="0" i="0" sz="1450" u="none" cap="none" strike="noStrike">
              <a:solidFill>
                <a:schemeClr val="dk1"/>
              </a:solidFill>
              <a:latin typeface="Calibri"/>
              <a:ea typeface="Calibri"/>
              <a:cs typeface="Calibri"/>
              <a:sym typeface="Calibri"/>
            </a:endParaRPr>
          </a:p>
        </p:txBody>
      </p:sp>
      <p:sp>
        <p:nvSpPr>
          <p:cNvPr id="227" name="Google Shape;227;p8"/>
          <p:cNvSpPr/>
          <p:nvPr/>
        </p:nvSpPr>
        <p:spPr>
          <a:xfrm>
            <a:off x="4690872" y="3227832"/>
            <a:ext cx="2971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0C6"/>
              </a:buClr>
              <a:buSzPts val="1150"/>
              <a:buFont typeface="Calibri"/>
              <a:buNone/>
            </a:pPr>
            <a:r>
              <a:rPr b="0" i="0" lang="en-US" sz="1150" u="none" cap="none" strike="noStrike">
                <a:solidFill>
                  <a:srgbClr val="B7C0C6"/>
                </a:solidFill>
                <a:latin typeface="Calibri"/>
                <a:ea typeface="Calibri"/>
                <a:cs typeface="Calibri"/>
                <a:sym typeface="Calibri"/>
              </a:rPr>
              <a:t>Límite de longitud y bloqueo de caracteres especiales.</a:t>
            </a:r>
            <a:endParaRPr b="0" i="0" sz="1150" u="none" cap="none" strike="noStrike">
              <a:solidFill>
                <a:schemeClr val="dk1"/>
              </a:solidFill>
              <a:latin typeface="Calibri"/>
              <a:ea typeface="Calibri"/>
              <a:cs typeface="Calibri"/>
              <a:sym typeface="Calibri"/>
            </a:endParaRPr>
          </a:p>
        </p:txBody>
      </p:sp>
      <p:sp>
        <p:nvSpPr>
          <p:cNvPr id="228" name="Google Shape;228;p8"/>
          <p:cNvSpPr/>
          <p:nvPr/>
        </p:nvSpPr>
        <p:spPr>
          <a:xfrm>
            <a:off x="8147304" y="1965960"/>
            <a:ext cx="3429000" cy="1828800"/>
          </a:xfrm>
          <a:prstGeom prst="roundRect">
            <a:avLst>
              <a:gd fmla="val 4500" name="adj"/>
            </a:avLst>
          </a:prstGeom>
          <a:solidFill>
            <a:srgbClr val="252F3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8375904" y="2103120"/>
            <a:ext cx="82296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94A6"/>
              </a:buClr>
              <a:buSzPts val="3000"/>
              <a:buFont typeface="Cambria"/>
              <a:buNone/>
            </a:pPr>
            <a:r>
              <a:rPr b="1" i="0" lang="en-US" sz="3000" u="none" cap="none" strike="noStrike">
                <a:solidFill>
                  <a:srgbClr val="5B94A6"/>
                </a:solidFill>
                <a:latin typeface="Cambria"/>
                <a:ea typeface="Cambria"/>
                <a:cs typeface="Cambria"/>
                <a:sym typeface="Cambria"/>
              </a:rPr>
              <a:t>3</a:t>
            </a:r>
            <a:endParaRPr b="0" i="0" sz="3000" u="none" cap="none" strike="noStrike">
              <a:solidFill>
                <a:schemeClr val="dk1"/>
              </a:solidFill>
              <a:latin typeface="Calibri"/>
              <a:ea typeface="Calibri"/>
              <a:cs typeface="Calibri"/>
              <a:sym typeface="Calibri"/>
            </a:endParaRPr>
          </a:p>
        </p:txBody>
      </p:sp>
      <p:sp>
        <p:nvSpPr>
          <p:cNvPr id="230" name="Google Shape;230;p8"/>
          <p:cNvSpPr/>
          <p:nvPr/>
        </p:nvSpPr>
        <p:spPr>
          <a:xfrm>
            <a:off x="8375904" y="2743200"/>
            <a:ext cx="2971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50"/>
              <a:buFont typeface="Cambria"/>
              <a:buNone/>
            </a:pPr>
            <a:r>
              <a:rPr b="1" i="0" lang="en-US" sz="1450" u="none" cap="none" strike="noStrike">
                <a:solidFill>
                  <a:srgbClr val="FFFFFF"/>
                </a:solidFill>
                <a:latin typeface="Cambria"/>
                <a:ea typeface="Cambria"/>
                <a:cs typeface="Cambria"/>
                <a:sym typeface="Cambria"/>
              </a:rPr>
              <a:t>Separación de responsabilidades</a:t>
            </a:r>
            <a:endParaRPr b="0" i="0" sz="1450" u="none" cap="none" strike="noStrike">
              <a:solidFill>
                <a:schemeClr val="dk1"/>
              </a:solidFill>
              <a:latin typeface="Calibri"/>
              <a:ea typeface="Calibri"/>
              <a:cs typeface="Calibri"/>
              <a:sym typeface="Calibri"/>
            </a:endParaRPr>
          </a:p>
        </p:txBody>
      </p:sp>
      <p:sp>
        <p:nvSpPr>
          <p:cNvPr id="231" name="Google Shape;231;p8"/>
          <p:cNvSpPr/>
          <p:nvPr/>
        </p:nvSpPr>
        <p:spPr>
          <a:xfrm>
            <a:off x="8375904" y="3227832"/>
            <a:ext cx="29718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C0C6"/>
              </a:buClr>
              <a:buSzPts val="1150"/>
              <a:buFont typeface="Calibri"/>
              <a:buNone/>
            </a:pPr>
            <a:r>
              <a:rPr b="0" i="0" lang="en-US" sz="1150" u="none" cap="none" strike="noStrike">
                <a:solidFill>
                  <a:srgbClr val="B7C0C6"/>
                </a:solidFill>
                <a:latin typeface="Calibri"/>
                <a:ea typeface="Calibri"/>
                <a:cs typeface="Calibri"/>
                <a:sym typeface="Calibri"/>
              </a:rPr>
              <a:t>Código modular, mantenible y auditable.</a:t>
            </a:r>
            <a:endParaRPr b="0" i="0" sz="1150" u="none" cap="none" strike="noStrike">
              <a:solidFill>
                <a:schemeClr val="dk1"/>
              </a:solidFill>
              <a:latin typeface="Calibri"/>
              <a:ea typeface="Calibri"/>
              <a:cs typeface="Calibri"/>
              <a:sym typeface="Calibri"/>
            </a:endParaRPr>
          </a:p>
        </p:txBody>
      </p:sp>
      <p:sp>
        <p:nvSpPr>
          <p:cNvPr id="232" name="Google Shape;232;p8"/>
          <p:cNvSpPr/>
          <p:nvPr/>
        </p:nvSpPr>
        <p:spPr>
          <a:xfrm>
            <a:off x="777240" y="4160520"/>
            <a:ext cx="10607040" cy="1691640"/>
          </a:xfrm>
          <a:prstGeom prst="roundRect">
            <a:avLst>
              <a:gd fmla="val 4865" name="adj"/>
            </a:avLst>
          </a:prstGeom>
          <a:solidFill>
            <a:srgbClr val="2E3A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1051560" y="4315968"/>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DED2"/>
              </a:buClr>
              <a:buSzPts val="1500"/>
              <a:buFont typeface="Cambria"/>
              <a:buNone/>
            </a:pPr>
            <a:r>
              <a:rPr b="1" i="0" lang="en-US" sz="1500" u="none" cap="none" strike="noStrike">
                <a:solidFill>
                  <a:srgbClr val="A9DED2"/>
                </a:solidFill>
                <a:latin typeface="Cambria"/>
                <a:ea typeface="Cambria"/>
                <a:cs typeface="Cambria"/>
                <a:sym typeface="Cambria"/>
              </a:rPr>
              <a:t>Trabajo futuro — Versión 3</a:t>
            </a:r>
            <a:endParaRPr b="0" i="0" sz="1500" u="none" cap="none" strike="noStrike">
              <a:solidFill>
                <a:schemeClr val="dk1"/>
              </a:solidFill>
              <a:latin typeface="Calibri"/>
              <a:ea typeface="Calibri"/>
              <a:cs typeface="Calibri"/>
              <a:sym typeface="Calibri"/>
            </a:endParaRPr>
          </a:p>
        </p:txBody>
      </p:sp>
      <p:sp>
        <p:nvSpPr>
          <p:cNvPr id="234" name="Google Shape;234;p8"/>
          <p:cNvSpPr/>
          <p:nvPr/>
        </p:nvSpPr>
        <p:spPr>
          <a:xfrm>
            <a:off x="1051560" y="4709160"/>
            <a:ext cx="9966960" cy="105156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DDE3E7"/>
              </a:buClr>
              <a:buSzPts val="1250"/>
              <a:buFont typeface="Calibri"/>
              <a:buChar char="•"/>
            </a:pPr>
            <a:r>
              <a:rPr b="0" i="0" lang="en-US" sz="1250" u="none" cap="none" strike="noStrike">
                <a:solidFill>
                  <a:srgbClr val="DDE3E7"/>
                </a:solidFill>
                <a:latin typeface="Calibri"/>
                <a:ea typeface="Calibri"/>
                <a:cs typeface="Calibri"/>
                <a:sym typeface="Calibri"/>
              </a:rPr>
              <a:t>Cifrar o aplicar hash a las contraseñas.</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DDE3E7"/>
              </a:buClr>
              <a:buSzPts val="1250"/>
              <a:buFont typeface="Calibri"/>
              <a:buChar char="•"/>
            </a:pPr>
            <a:r>
              <a:rPr b="0" i="0" lang="en-US" sz="1250" u="none" cap="none" strike="noStrike">
                <a:solidFill>
                  <a:srgbClr val="DDE3E7"/>
                </a:solidFill>
                <a:latin typeface="Calibri"/>
                <a:ea typeface="Calibri"/>
                <a:cs typeface="Calibri"/>
                <a:sym typeface="Calibri"/>
              </a:rPr>
              <a:t>Sacar las credenciales del código fuente.</a:t>
            </a:r>
            <a:endParaRPr b="0" i="0" sz="125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DDE3E7"/>
              </a:buClr>
              <a:buSzPts val="1250"/>
              <a:buFont typeface="Calibri"/>
              <a:buChar char="•"/>
            </a:pPr>
            <a:r>
              <a:rPr b="0" i="0" lang="en-US" sz="1250" u="none" cap="none" strike="noStrike">
                <a:solidFill>
                  <a:srgbClr val="DDE3E7"/>
                </a:solidFill>
                <a:latin typeface="Calibri"/>
                <a:ea typeface="Calibri"/>
                <a:cs typeface="Calibri"/>
                <a:sym typeface="Calibri"/>
              </a:rPr>
              <a:t>Usar una base de datos real con consultas parametrizadas para evitar inyección.</a:t>
            </a:r>
            <a:endParaRPr b="0" i="0" sz="1250" u="none" cap="none" strike="noStrike">
              <a:solidFill>
                <a:schemeClr val="dk1"/>
              </a:solidFill>
              <a:latin typeface="Calibri"/>
              <a:ea typeface="Calibri"/>
              <a:cs typeface="Calibri"/>
              <a:sym typeface="Calibri"/>
            </a:endParaRPr>
          </a:p>
        </p:txBody>
      </p:sp>
      <p:sp>
        <p:nvSpPr>
          <p:cNvPr id="235" name="Google Shape;235;p8"/>
          <p:cNvSpPr/>
          <p:nvPr/>
        </p:nvSpPr>
        <p:spPr>
          <a:xfrm>
            <a:off x="777240" y="6080760"/>
            <a:ext cx="106070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AA6AD"/>
              </a:buClr>
              <a:buSzPts val="1500"/>
              <a:buFont typeface="Cambria"/>
              <a:buNone/>
            </a:pPr>
            <a:r>
              <a:rPr b="0" i="1" lang="en-US" sz="1500" u="none" cap="none" strike="noStrike">
                <a:solidFill>
                  <a:srgbClr val="9AA6AD"/>
                </a:solidFill>
                <a:latin typeface="Cambria"/>
                <a:ea typeface="Cambria"/>
                <a:cs typeface="Cambria"/>
                <a:sym typeface="Cambria"/>
              </a:rPr>
              <a:t>Con esto termino la exposición. Quedo atento a sus preguntas.</a:t>
            </a:r>
            <a:endParaRPr b="0" i="0" sz="15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